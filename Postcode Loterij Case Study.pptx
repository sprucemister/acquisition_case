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91" r:id="rId3"/>
    <p:sldId id="343" r:id="rId4"/>
    <p:sldId id="286" r:id="rId5"/>
    <p:sldId id="288" r:id="rId6"/>
    <p:sldId id="289" r:id="rId7"/>
    <p:sldId id="290" r:id="rId8"/>
    <p:sldId id="292" r:id="rId9"/>
    <p:sldId id="296" r:id="rId10"/>
    <p:sldId id="297" r:id="rId11"/>
    <p:sldId id="332" r:id="rId12"/>
    <p:sldId id="294" r:id="rId13"/>
    <p:sldId id="295" r:id="rId14"/>
    <p:sldId id="298" r:id="rId15"/>
    <p:sldId id="299" r:id="rId16"/>
    <p:sldId id="293" r:id="rId17"/>
    <p:sldId id="300" r:id="rId18"/>
    <p:sldId id="302" r:id="rId19"/>
    <p:sldId id="303" r:id="rId20"/>
    <p:sldId id="305" r:id="rId21"/>
    <p:sldId id="308" r:id="rId22"/>
    <p:sldId id="333" r:id="rId23"/>
    <p:sldId id="307" r:id="rId24"/>
    <p:sldId id="326" r:id="rId25"/>
    <p:sldId id="324" r:id="rId26"/>
    <p:sldId id="306" r:id="rId27"/>
    <p:sldId id="341" r:id="rId28"/>
    <p:sldId id="342" r:id="rId29"/>
    <p:sldId id="312" r:id="rId30"/>
    <p:sldId id="350" r:id="rId31"/>
    <p:sldId id="339" r:id="rId32"/>
    <p:sldId id="340" r:id="rId33"/>
    <p:sldId id="310" r:id="rId34"/>
    <p:sldId id="311" r:id="rId35"/>
    <p:sldId id="338" r:id="rId36"/>
    <p:sldId id="304" r:id="rId37"/>
    <p:sldId id="344" r:id="rId38"/>
    <p:sldId id="315" r:id="rId39"/>
    <p:sldId id="316" r:id="rId40"/>
    <p:sldId id="334" r:id="rId41"/>
    <p:sldId id="317" r:id="rId42"/>
    <p:sldId id="321" r:id="rId43"/>
    <p:sldId id="336" r:id="rId44"/>
    <p:sldId id="322" r:id="rId45"/>
    <p:sldId id="320" r:id="rId46"/>
    <p:sldId id="318" r:id="rId47"/>
    <p:sldId id="348" r:id="rId48"/>
    <p:sldId id="349" r:id="rId49"/>
    <p:sldId id="325" r:id="rId50"/>
    <p:sldId id="345" r:id="rId51"/>
    <p:sldId id="328" r:id="rId52"/>
    <p:sldId id="327" r:id="rId53"/>
    <p:sldId id="330" r:id="rId54"/>
    <p:sldId id="347" r:id="rId55"/>
    <p:sldId id="284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7D45A"/>
    <a:srgbClr val="B8C6D3"/>
    <a:srgbClr val="E85D2A"/>
    <a:srgbClr val="000080"/>
    <a:srgbClr val="F8766D"/>
    <a:srgbClr val="00B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475F4-48D6-479F-88F4-B9FBA1B418A0}" v="75" dt="2026-10-31T16:58:36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2" autoAdjust="0"/>
    <p:restoredTop sz="92724" autoAdjust="0"/>
  </p:normalViewPr>
  <p:slideViewPr>
    <p:cSldViewPr snapToGrid="0">
      <p:cViewPr varScale="1">
        <p:scale>
          <a:sx n="76" d="100"/>
          <a:sy n="76" d="100"/>
        </p:scale>
        <p:origin x="12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97197-914D-4543-BC86-3177DC4EE37A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A01DB-AC80-439D-AB68-FCFA9687B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3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E04F-DD46-D061-41B5-BADB4D2F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EAB2C-B520-361B-94E5-704B40E78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D63DD-2DCA-26F8-A683-372AF7F85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738B7-5B64-2D35-A48B-B186E7BEF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21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0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5665E-F5BD-7B29-E130-9F3E3B852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E2E4D-65C2-C626-6D09-2E1292C1C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B7961-6599-88F8-AF00-4B4DBD3E8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DDDC8-7539-53F6-2E26-12FA7799E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2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5779C-D507-29D7-971D-FC97DC85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0BDED-C7F8-DCD3-44BB-002CE9471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DD347-C86F-A890-A775-EC250EF1E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130B4-E5FE-603E-F9A7-FFE8135FA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22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40AD-3739-26D7-0250-9FFB25FD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8DFC3-3534-12B3-AFA4-B7F888BF8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3BC1B-4CA0-D5D4-D9BB-BAB098B69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1298A-DE72-C6BB-954D-0F85559CD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58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D8771-D27E-0DF2-C941-0A40716E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DCF11-7330-5B74-9F60-133698FB6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06759-0192-DCE0-DDCE-B1310E8C3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0AD85-5004-7388-46E7-7412B6E7D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02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1E59-EB47-2447-F732-2D727B91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1F332-EDC0-994B-C188-579236A63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2ABD6-56A0-1DC8-5B4D-480FB76A8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43845-34BE-1331-0572-EA6822E1F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09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775DA-03C3-70E5-9452-5B085FBA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DF60F-129C-22C1-FA8C-EC85A011F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273E8-DF06-D812-AF80-D26757A70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FE11E-550A-94C6-2DCE-6E0CD3192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92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F04F-D16A-DE30-AF0A-32FCBF32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ACF9B-68D6-A737-EAFC-E94C6839B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CC634-BE88-9E79-DDF6-6CD717F1E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4ADE2-04A3-E10A-6FDD-63CB16C2F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27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766D-0234-F2BA-8B3C-2A088A47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82864-051D-F072-1C5B-6649DF680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61A6E-64E9-BA34-8805-FEB2B56F0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8E3E1-2626-1D10-365D-79E656B0A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830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include a short explanation of your process: how did you prompt, what did your iteration process look like, and how did you validate the outcomes?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60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D1B6E-B451-EF95-F625-6EFABE92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E4FD3-AC18-9F39-C8E6-A862DC270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55229-E54D-4FF2-3CAF-2C0FE14A4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34F9F-63B7-8668-87BA-C7274E941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38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97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3B24-F27E-A783-3E9C-076061A1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0FA4F-A2BC-6E3E-D627-47282D4CC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12886-4B5A-78BA-0790-873885EA1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2334C-AC11-7C83-0E21-3A2FFACDA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63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7420-9490-4BD8-6A6C-700B4824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EBB57-0C54-8912-CAC2-DA05291B0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11D29-2CDA-98D2-3D8C-621A0F7FA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45E52-8A87-1329-9C04-7E288DDEB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11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A190-926C-A9C3-D419-6D09BEE0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40FC8-3DBB-8FDA-5558-5CFB5C8C4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1EC59-58C3-2CAB-AD70-000D02DD5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87DEA-D66F-0232-3FDD-2C6DA5F12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61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E410D-25FB-4F78-4EC3-D0EC35411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F2BD9-ACF6-2A88-61FB-55A40101E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A4282-CE7D-2281-5DB9-E3A1AD7C7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day of TV Spot and next </a:t>
            </a:r>
            <a:r>
              <a:rPr lang="en-US" dirty="0" err="1"/>
              <a:t>calender</a:t>
            </a:r>
            <a:r>
              <a:rPr lang="en-US" dirty="0"/>
              <a:t> 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C19A4-8377-EE21-01D2-6D5103500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A01DB-AC80-439D-AB68-FCFA9687B2D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0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20A4-5FE6-DAA8-B702-C5D536029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F0F2F-C414-D411-496A-C6533EF69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62666-137C-65D2-748C-464FA7A9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0119E-0CC8-A7A5-E22D-C87D40332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DC5C0-901B-2718-C500-888AD9F8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9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3A39-34AA-F682-457B-113D4D93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962BA-06F1-2F14-3B99-F7FC13F39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9980D-B4ED-23A1-7E32-AF36871BB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A202D-E3A5-AFD2-1D32-2AF4AF88B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5B31-2449-4DE8-6380-80D55542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5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FCBC-A6A9-F87F-B7E0-E288E879F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922FF-52DE-D8DE-FB9C-1B48D65C2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D0833-9701-7BBA-2BB7-5818755A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755DF-BD13-2B7E-6048-49E0FDBE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F3B2-ECE9-83E5-8299-B50CE375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8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CD8AE-7B79-3344-58B4-B6F43F33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08946-B76C-FC43-6988-7FC9277FDD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74CCE-EA8E-E1EE-3494-FA5C29BFB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DBE0D-BD40-3250-598D-31E8049C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A0EE9-E1C4-0C5E-20E2-0140F773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C70A6-5C78-F518-596E-B6638F74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3F56-7B1D-5BB8-A52F-C66D618D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90DAB-777D-FA3C-717B-17A5F8374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7F965-1CBF-2244-C0EA-673E13282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7B281-58BA-7618-A297-DBF884AD6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95290-1A79-C82D-3A34-BBF83709F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9A4B62-435D-B7F6-4675-AF8F4D681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DB7F9-C8B0-1A8C-CA34-E6D3A045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8D471-2A07-6686-9AB4-8D42DC0C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7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437F-EA9F-BE77-2ED3-6C72343DD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40777-6E9F-8C0C-0EBA-5C4FF598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C95D7-5061-31C9-A807-C792C204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B3DB7-EFB5-D107-F90C-B6A93EB8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4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922D3F-20D3-AF5B-6D72-41546D3C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1A433-86AA-5BAD-F4FB-D9BC3CB96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97504-8BCB-E67A-32A8-CF466355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1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E5F8-06BE-B889-0B77-AFF9233B9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2D9D8-8394-4989-8445-2C507F0BE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0494E-E9F1-DFEF-54B5-0088AAFE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E45A1-4E8A-28A6-4252-6426CC44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A65F-80F0-7D7F-1610-8C3C3E25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413F6-7011-56B0-FED0-F8DD92B5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7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593E-902B-EC9C-47FE-842E0CEF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0F444-44E5-9773-3433-015093F36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73E51-2B08-8324-396D-18F40FE7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3E893-5C67-9479-3D73-87DE4355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D9D10-DB7E-B3B2-CBB0-D043A005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603F7-E790-AF09-5FC8-7626059D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5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978B-0E23-A7E3-9B91-3C0DFCAF6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29686-44C8-6CC9-4E1D-BDE9F34D7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A430-1CDA-954A-7A77-B37320FB2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2E35-1B24-DC60-0281-E337BB01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ACCBF-7487-24D8-3BC2-8767E5BB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8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6F99C-252D-2974-4E72-D4B9D5B0C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772BF-9E36-CB27-C795-E59617134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87B30-F7AE-FC9E-59CE-449B2E6D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360B7-C0C2-89C1-7A7A-12A80774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A4E03-6B90-430C-C1AE-C2BCCEE5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0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3D130-1BAA-5818-50EA-CF07A67A6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79060-A25F-89FE-72A0-78EB251B5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7B3A7-29C1-9B3E-4FDB-C9D0A2C16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462CD-347E-41DE-8674-DE9C32847747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C27ED-C7CF-9FEA-1C12-7A02A33AE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60163-A3C8-A587-77A8-004358C93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2E3ED-F02E-4E73-912A-96EFA77E9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0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EC1A-68C0-4163-39B6-B14C70527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2025 Postcode </a:t>
            </a:r>
            <a:r>
              <a:rPr lang="en-US" dirty="0" err="1"/>
              <a:t>Loterij</a:t>
            </a:r>
            <a:r>
              <a:rPr lang="en-US" dirty="0"/>
              <a:t> Attribution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00FD5-B4E4-ECCB-8033-9A0E9088A0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Stewart Patterson</a:t>
            </a:r>
          </a:p>
        </p:txBody>
      </p:sp>
    </p:spTree>
    <p:extLst>
      <p:ext uri="{BB962C8B-B14F-4D97-AF65-F5344CB8AC3E}">
        <p14:creationId xmlns:p14="http://schemas.microsoft.com/office/powerpoint/2010/main" val="1808601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39B74-8FFD-FD2E-48FF-F40384D1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9E8478A-24A4-D28E-0E52-E5CFBCAF5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76"/>
            <a:ext cx="9144000" cy="360203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r>
              <a:rPr lang="en-US" dirty="0"/>
              <a:t>Part 1:</a:t>
            </a:r>
            <a:br>
              <a:rPr lang="en-US" dirty="0"/>
            </a:br>
            <a:r>
              <a:rPr lang="en-US" b="1" dirty="0"/>
              <a:t>Technical Perspective</a:t>
            </a:r>
          </a:p>
        </p:txBody>
      </p:sp>
    </p:spTree>
    <p:extLst>
      <p:ext uri="{BB962C8B-B14F-4D97-AF65-F5344CB8AC3E}">
        <p14:creationId xmlns:p14="http://schemas.microsoft.com/office/powerpoint/2010/main" val="364850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F7412-9E80-DC8D-B947-5CC478F7D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EFAB-81E0-F10A-9946-8AA869EAB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3567055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513F-32D1-20A2-B40D-4ADA51D0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Data Preparation - </a:t>
            </a:r>
            <a:r>
              <a:rPr lang="en-US" i="1" dirty="0"/>
              <a:t>Sales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2EC3BC-F479-71DC-11B0-6DC6242DCDFE}"/>
              </a:ext>
            </a:extLst>
          </p:cNvPr>
          <p:cNvSpPr/>
          <p:nvPr/>
        </p:nvSpPr>
        <p:spPr>
          <a:xfrm>
            <a:off x="6963510" y="1493102"/>
            <a:ext cx="4489938" cy="1770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ysClr val="windowText" lastClr="000000"/>
                </a:solidFill>
              </a:rPr>
              <a:t>Duplicate Rows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Remove Duplicates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b="1" dirty="0">
                <a:solidFill>
                  <a:sysClr val="windowText" lastClr="000000"/>
                </a:solidFill>
              </a:rPr>
              <a:t>Duplicate </a:t>
            </a:r>
            <a:r>
              <a:rPr lang="en-US" b="1" i="1" dirty="0" err="1">
                <a:solidFill>
                  <a:sysClr val="windowText" lastClr="000000"/>
                </a:solidFill>
              </a:rPr>
              <a:t>sale_id</a:t>
            </a:r>
            <a:r>
              <a:rPr lang="en-US" b="1" dirty="0">
                <a:solidFill>
                  <a:sysClr val="windowText" lastClr="000000"/>
                </a:solidFill>
              </a:rPr>
              <a:t> </a:t>
            </a:r>
          </a:p>
          <a:p>
            <a:r>
              <a:rPr lang="en-US" b="1" dirty="0">
                <a:solidFill>
                  <a:sysClr val="windowText" lastClr="000000"/>
                </a:solidFill>
              </a:rPr>
              <a:t>Timestamp ~5  seconds apart</a:t>
            </a:r>
          </a:p>
          <a:p>
            <a:r>
              <a:rPr lang="en-US" i="1" dirty="0">
                <a:solidFill>
                  <a:sysClr val="windowText" lastClr="000000"/>
                </a:solidFill>
              </a:rPr>
              <a:t>      </a:t>
            </a:r>
            <a:r>
              <a:rPr lang="en-US" dirty="0">
                <a:solidFill>
                  <a:sysClr val="windowText" lastClr="000000"/>
                </a:solidFill>
              </a:rPr>
              <a:t>Keep only the first record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b="1" dirty="0">
                <a:solidFill>
                  <a:sysClr val="windowText" lastClr="000000"/>
                </a:solidFill>
              </a:rPr>
              <a:t>Messy ID’s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Capitalize and remove spaces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US" i="1" dirty="0">
              <a:solidFill>
                <a:sysClr val="windowText" lastClr="0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C18535DC-BEB1-1D9F-4D1A-5E85F8077C0A}"/>
              </a:ext>
            </a:extLst>
          </p:cNvPr>
          <p:cNvSpPr/>
          <p:nvPr/>
        </p:nvSpPr>
        <p:spPr>
          <a:xfrm rot="5400000">
            <a:off x="7115480" y="2968498"/>
            <a:ext cx="118087" cy="16412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EB156890-082A-5490-F73A-22CC90BED408}"/>
              </a:ext>
            </a:extLst>
          </p:cNvPr>
          <p:cNvSpPr/>
          <p:nvPr/>
        </p:nvSpPr>
        <p:spPr>
          <a:xfrm rot="5400000">
            <a:off x="7115481" y="1867815"/>
            <a:ext cx="118087" cy="16412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0FB07C-D47B-DDB8-3C7B-A5298B5C6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865" y="4443889"/>
            <a:ext cx="6167438" cy="19247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81E9317-5543-38F0-D612-1FD3ABEB761E}"/>
              </a:ext>
            </a:extLst>
          </p:cNvPr>
          <p:cNvSpPr/>
          <p:nvPr/>
        </p:nvSpPr>
        <p:spPr>
          <a:xfrm>
            <a:off x="495850" y="1658815"/>
            <a:ext cx="4975346" cy="1770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missing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duplicates on primary key </a:t>
            </a:r>
            <a:r>
              <a:rPr lang="en-US" i="1" dirty="0" err="1">
                <a:solidFill>
                  <a:sysClr val="windowText" lastClr="000000"/>
                </a:solidFill>
              </a:rPr>
              <a:t>sale_id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if any anomalous lengths of </a:t>
            </a:r>
            <a:r>
              <a:rPr lang="en-US" i="1" dirty="0" err="1">
                <a:solidFill>
                  <a:sysClr val="windowText" lastClr="000000"/>
                </a:solidFill>
              </a:rPr>
              <a:t>sale_id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if all data in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Visual inspection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DAC381-E35E-C4EF-AC71-31289B4BD3D5}"/>
              </a:ext>
            </a:extLst>
          </p:cNvPr>
          <p:cNvSpPr txBox="1"/>
          <p:nvPr/>
        </p:nvSpPr>
        <p:spPr>
          <a:xfrm>
            <a:off x="495850" y="10964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Checks</a:t>
            </a:r>
            <a:endParaRPr lang="en-US" sz="2400" b="1" u="sn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88A46B-00B6-6649-11C3-1EFD72E3129B}"/>
              </a:ext>
            </a:extLst>
          </p:cNvPr>
          <p:cNvSpPr txBox="1"/>
          <p:nvPr/>
        </p:nvSpPr>
        <p:spPr>
          <a:xfrm>
            <a:off x="6720806" y="10314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Actions Taken</a:t>
            </a:r>
            <a:endParaRPr lang="en-US" sz="2400" b="1" u="sng" dirty="0"/>
          </a:p>
        </p:txBody>
      </p:sp>
      <p:sp>
        <p:nvSpPr>
          <p:cNvPr id="4" name="Arrow: Bent-Up 3">
            <a:extLst>
              <a:ext uri="{FF2B5EF4-FFF2-40B4-BE49-F238E27FC236}">
                <a16:creationId xmlns:a16="http://schemas.microsoft.com/office/drawing/2014/main" id="{3C2D1499-4636-E530-5B16-E7DCB51E296C}"/>
              </a:ext>
            </a:extLst>
          </p:cNvPr>
          <p:cNvSpPr/>
          <p:nvPr/>
        </p:nvSpPr>
        <p:spPr>
          <a:xfrm rot="5400000">
            <a:off x="7103758" y="3800832"/>
            <a:ext cx="118087" cy="16412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21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DCBF5-8B99-E5D1-0D1C-EEBD54743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0AACE77-DF6A-D5B0-7CA9-3F8FB7E54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890" y="5232947"/>
            <a:ext cx="7602220" cy="8357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F84FCA-33DA-19C8-9C05-00F7532F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Data Preparation – </a:t>
            </a:r>
            <a:r>
              <a:rPr lang="en-US" i="1" dirty="0"/>
              <a:t>Digital Interactions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4C6CF2-6CE8-75FB-CB62-DC468778A7AF}"/>
              </a:ext>
            </a:extLst>
          </p:cNvPr>
          <p:cNvSpPr/>
          <p:nvPr/>
        </p:nvSpPr>
        <p:spPr>
          <a:xfrm>
            <a:off x="6834554" y="1521767"/>
            <a:ext cx="4489938" cy="1770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ysClr val="windowText" lastClr="000000"/>
                </a:solidFill>
              </a:rPr>
              <a:t>Empty Categories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Fill Empty Categories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b="1" dirty="0">
                <a:solidFill>
                  <a:sysClr val="windowText" lastClr="000000"/>
                </a:solidFill>
              </a:rPr>
              <a:t>Messy ID’s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Capitalize and remove spaces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ADBE58A9-0198-FBAB-8B9E-94A97211E978}"/>
              </a:ext>
            </a:extLst>
          </p:cNvPr>
          <p:cNvSpPr/>
          <p:nvPr/>
        </p:nvSpPr>
        <p:spPr>
          <a:xfrm rot="5400000">
            <a:off x="6974802" y="1889186"/>
            <a:ext cx="118087" cy="16412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6CB59A-EE11-F23E-F54D-C286EBFF7357}"/>
              </a:ext>
            </a:extLst>
          </p:cNvPr>
          <p:cNvSpPr/>
          <p:nvPr/>
        </p:nvSpPr>
        <p:spPr>
          <a:xfrm>
            <a:off x="495849" y="1658815"/>
            <a:ext cx="5236735" cy="1770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Look at counts of categorical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missing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duplicates on primary key </a:t>
            </a:r>
            <a:r>
              <a:rPr lang="en-US" i="1" dirty="0" err="1">
                <a:solidFill>
                  <a:sysClr val="windowText" lastClr="000000"/>
                </a:solidFill>
              </a:rPr>
              <a:t>sale_id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if any anomalous lengths of id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if all data in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that campaign matches platform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i.e. Google ≠ Instagram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Visual inspection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7CECEA-95F6-C85A-F05F-AA84898C6628}"/>
              </a:ext>
            </a:extLst>
          </p:cNvPr>
          <p:cNvSpPr txBox="1"/>
          <p:nvPr/>
        </p:nvSpPr>
        <p:spPr>
          <a:xfrm>
            <a:off x="495850" y="10964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Checks</a:t>
            </a:r>
            <a:endParaRPr lang="en-US" sz="2400" b="1" u="sn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7E6281-3AE5-F081-7B24-361930936912}"/>
              </a:ext>
            </a:extLst>
          </p:cNvPr>
          <p:cNvSpPr txBox="1"/>
          <p:nvPr/>
        </p:nvSpPr>
        <p:spPr>
          <a:xfrm>
            <a:off x="6591850" y="10601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Actions Taken</a:t>
            </a:r>
            <a:endParaRPr lang="en-US" sz="2400" b="1" u="sng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2201C2-7045-0732-CAED-C7DB497272DA}"/>
              </a:ext>
            </a:extLst>
          </p:cNvPr>
          <p:cNvCxnSpPr/>
          <p:nvPr/>
        </p:nvCxnSpPr>
        <p:spPr>
          <a:xfrm>
            <a:off x="5483567" y="5749931"/>
            <a:ext cx="703385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809B446E-1FE4-C355-3DBF-AEDBFF7BBAFB}"/>
              </a:ext>
            </a:extLst>
          </p:cNvPr>
          <p:cNvSpPr/>
          <p:nvPr/>
        </p:nvSpPr>
        <p:spPr>
          <a:xfrm rot="5400000">
            <a:off x="6974802" y="2733242"/>
            <a:ext cx="118087" cy="16412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01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75865-129D-BA43-4438-1B1310FB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7645-6E7F-6C59-A73F-E2FE0AB5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Data Preparation – </a:t>
            </a:r>
            <a:r>
              <a:rPr lang="en-US" i="1" dirty="0"/>
              <a:t>TV Spots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1D1F2-5628-A8AA-6A02-7DBA303F4BB9}"/>
              </a:ext>
            </a:extLst>
          </p:cNvPr>
          <p:cNvSpPr/>
          <p:nvPr/>
        </p:nvSpPr>
        <p:spPr>
          <a:xfrm>
            <a:off x="6834554" y="1521767"/>
            <a:ext cx="4489938" cy="1770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ysClr val="windowText" lastClr="000000"/>
                </a:solidFill>
              </a:rPr>
              <a:t>None needed 😎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B6E0B-9C5E-76DF-E074-3F9298A7E984}"/>
              </a:ext>
            </a:extLst>
          </p:cNvPr>
          <p:cNvSpPr/>
          <p:nvPr/>
        </p:nvSpPr>
        <p:spPr>
          <a:xfrm>
            <a:off x="495849" y="1658815"/>
            <a:ext cx="5775997" cy="1770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distribution of impressions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missing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duplicates on primary key </a:t>
            </a:r>
            <a:r>
              <a:rPr lang="en-US" i="1" dirty="0" err="1">
                <a:solidFill>
                  <a:sysClr val="windowText" lastClr="000000"/>
                </a:solidFill>
              </a:rPr>
              <a:t>spot_id</a:t>
            </a:r>
            <a:r>
              <a:rPr lang="en-US" i="1" dirty="0">
                <a:solidFill>
                  <a:sysClr val="windowText" lastClr="000000"/>
                </a:solidFill>
              </a:rPr>
              <a:t> /</a:t>
            </a:r>
            <a:r>
              <a:rPr lang="en-US" i="1" dirty="0" err="1">
                <a:solidFill>
                  <a:sysClr val="windowText" lastClr="000000"/>
                </a:solidFill>
              </a:rPr>
              <a:t>air_time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if all data in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Visual inspection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9FF619-30D8-26B6-ECAD-5F611F65B6CF}"/>
              </a:ext>
            </a:extLst>
          </p:cNvPr>
          <p:cNvSpPr txBox="1"/>
          <p:nvPr/>
        </p:nvSpPr>
        <p:spPr>
          <a:xfrm>
            <a:off x="495850" y="10964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Checks</a:t>
            </a:r>
            <a:endParaRPr lang="en-US" sz="2400" b="1" u="sn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C5791F-6D97-BA57-4954-18A53971E32D}"/>
              </a:ext>
            </a:extLst>
          </p:cNvPr>
          <p:cNvSpPr txBox="1"/>
          <p:nvPr/>
        </p:nvSpPr>
        <p:spPr>
          <a:xfrm>
            <a:off x="6591850" y="10601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Actions Taken</a:t>
            </a:r>
            <a:endParaRPr lang="en-US" sz="2400" b="1" u="sng" dirty="0"/>
          </a:p>
        </p:txBody>
      </p:sp>
    </p:spTree>
    <p:extLst>
      <p:ext uri="{BB962C8B-B14F-4D97-AF65-F5344CB8AC3E}">
        <p14:creationId xmlns:p14="http://schemas.microsoft.com/office/powerpoint/2010/main" val="1080311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AA0CB-B016-1EE9-4EE0-534C6B6C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3886-25FE-CB5D-146E-1ADDE33B3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Data Preparation – </a:t>
            </a:r>
            <a:r>
              <a:rPr lang="en-US" i="1" dirty="0"/>
              <a:t>DM </a:t>
            </a:r>
            <a:r>
              <a:rPr lang="en-US" i="1" dirty="0" err="1"/>
              <a:t>Sendouts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2C18E7-7AB9-7E30-EBEE-3A9D84FEBC86}"/>
              </a:ext>
            </a:extLst>
          </p:cNvPr>
          <p:cNvSpPr/>
          <p:nvPr/>
        </p:nvSpPr>
        <p:spPr>
          <a:xfrm>
            <a:off x="495849" y="1658815"/>
            <a:ext cx="5775997" cy="1770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distribution of </a:t>
            </a:r>
            <a:r>
              <a:rPr lang="en-US" dirty="0" err="1">
                <a:solidFill>
                  <a:sysClr val="windowText" lastClr="000000"/>
                </a:solidFill>
              </a:rPr>
              <a:t>sendout</a:t>
            </a:r>
            <a:r>
              <a:rPr lang="en-US" dirty="0">
                <a:solidFill>
                  <a:sysClr val="windowText" lastClr="000000"/>
                </a:solidFill>
              </a:rPr>
              <a:t> counts per </a:t>
            </a:r>
            <a:r>
              <a:rPr lang="en-US" dirty="0" err="1">
                <a:solidFill>
                  <a:sysClr val="windowText" lastClr="000000"/>
                </a:solidFill>
              </a:rPr>
              <a:t>sendout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missing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for duplicates on primary key </a:t>
            </a:r>
            <a:r>
              <a:rPr lang="en-US" i="1" dirty="0" err="1">
                <a:solidFill>
                  <a:sysClr val="windowText" lastClr="000000"/>
                </a:solidFill>
              </a:rPr>
              <a:t>address_id</a:t>
            </a:r>
            <a:endParaRPr lang="en-US" dirty="0">
              <a:solidFill>
                <a:sysClr val="windowText" lastClr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Check if all data in 2025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</a:rPr>
              <a:t>Visual inspection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672B7A-F2FD-C929-8BEF-9EF4802532C8}"/>
              </a:ext>
            </a:extLst>
          </p:cNvPr>
          <p:cNvSpPr txBox="1"/>
          <p:nvPr/>
        </p:nvSpPr>
        <p:spPr>
          <a:xfrm>
            <a:off x="495850" y="10964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Checks</a:t>
            </a:r>
            <a:endParaRPr lang="en-US" sz="2400" b="1" u="sng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2F793B-ED6A-911E-3475-B778710400C3}"/>
              </a:ext>
            </a:extLst>
          </p:cNvPr>
          <p:cNvSpPr txBox="1"/>
          <p:nvPr/>
        </p:nvSpPr>
        <p:spPr>
          <a:xfrm>
            <a:off x="6591850" y="10601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ysClr val="windowText" lastClr="000000"/>
                </a:solidFill>
              </a:rPr>
              <a:t>Actions Taken</a:t>
            </a:r>
            <a:endParaRPr lang="en-US" sz="2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03950-DAE4-1833-7631-661C3BC3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822" y="4135090"/>
            <a:ext cx="4326547" cy="1984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40B47BD-1E9C-B27A-51E0-B2748CC49275}"/>
              </a:ext>
            </a:extLst>
          </p:cNvPr>
          <p:cNvCxnSpPr>
            <a:cxnSpLocks/>
          </p:cNvCxnSpPr>
          <p:nvPr/>
        </p:nvCxnSpPr>
        <p:spPr>
          <a:xfrm>
            <a:off x="4665785" y="5130015"/>
            <a:ext cx="996461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1FC7A1-C1DF-9688-99AD-ED9242CF6A58}"/>
              </a:ext>
            </a:extLst>
          </p:cNvPr>
          <p:cNvSpPr/>
          <p:nvPr/>
        </p:nvSpPr>
        <p:spPr>
          <a:xfrm>
            <a:off x="6834554" y="1521767"/>
            <a:ext cx="4489938" cy="1770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ysClr val="windowText" lastClr="000000"/>
                </a:solidFill>
              </a:rPr>
              <a:t>Un-standardized </a:t>
            </a:r>
            <a:r>
              <a:rPr lang="en-US" b="1" dirty="0" err="1">
                <a:solidFill>
                  <a:sysClr val="windowText" lastClr="000000"/>
                </a:solidFill>
              </a:rPr>
              <a:t>Sendout</a:t>
            </a:r>
            <a:r>
              <a:rPr lang="en-US" b="1" dirty="0">
                <a:solidFill>
                  <a:sysClr val="windowText" lastClr="000000"/>
                </a:solidFill>
              </a:rPr>
              <a:t> Group Names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Standardize </a:t>
            </a:r>
            <a:r>
              <a:rPr lang="en-US" dirty="0" err="1">
                <a:solidFill>
                  <a:sysClr val="windowText" lastClr="000000"/>
                </a:solidFill>
              </a:rPr>
              <a:t>Sendout</a:t>
            </a:r>
            <a:r>
              <a:rPr lang="en-US" dirty="0">
                <a:solidFill>
                  <a:sysClr val="windowText" lastClr="000000"/>
                </a:solidFill>
              </a:rPr>
              <a:t> Group Names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b="1" dirty="0">
                <a:solidFill>
                  <a:sysClr val="windowText" lastClr="000000"/>
                </a:solidFill>
              </a:rPr>
              <a:t>Messy ID’s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      Capitalize and remove spaces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solidFill>
                <a:sysClr val="windowText" lastClr="000000"/>
              </a:solidFill>
            </a:endParaRPr>
          </a:p>
          <a:p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8D3F43C7-45CE-6A4D-B291-A44869365DB7}"/>
              </a:ext>
            </a:extLst>
          </p:cNvPr>
          <p:cNvSpPr/>
          <p:nvPr/>
        </p:nvSpPr>
        <p:spPr>
          <a:xfrm rot="5400000">
            <a:off x="6974802" y="1889186"/>
            <a:ext cx="118087" cy="16412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Bent-Up 3">
            <a:extLst>
              <a:ext uri="{FF2B5EF4-FFF2-40B4-BE49-F238E27FC236}">
                <a16:creationId xmlns:a16="http://schemas.microsoft.com/office/drawing/2014/main" id="{E8537F44-6774-5B65-DF97-04D718A4243F}"/>
              </a:ext>
            </a:extLst>
          </p:cNvPr>
          <p:cNvSpPr/>
          <p:nvPr/>
        </p:nvSpPr>
        <p:spPr>
          <a:xfrm rot="5400000">
            <a:off x="6974803" y="2721520"/>
            <a:ext cx="118087" cy="16412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4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41004-F169-B86E-59B8-992A4CCD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7E95-5016-3671-2C46-95A862D75C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Baselines</a:t>
            </a:r>
          </a:p>
        </p:txBody>
      </p:sp>
    </p:spTree>
    <p:extLst>
      <p:ext uri="{BB962C8B-B14F-4D97-AF65-F5344CB8AC3E}">
        <p14:creationId xmlns:p14="http://schemas.microsoft.com/office/powerpoint/2010/main" val="312504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B1EF5-7DD8-E172-B642-1293B3B7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47F6-14F9-49FA-20FA-5C7EA354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Direct Link Attribution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1E939-E18A-5ED2-2D68-7C72C1D41B1F}"/>
              </a:ext>
            </a:extLst>
          </p:cNvPr>
          <p:cNvSpPr txBox="1"/>
          <p:nvPr/>
        </p:nvSpPr>
        <p:spPr>
          <a:xfrm>
            <a:off x="5134708" y="2145322"/>
            <a:ext cx="14653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1A779-728C-0F01-7DE0-95A557B3E933}"/>
              </a:ext>
            </a:extLst>
          </p:cNvPr>
          <p:cNvSpPr txBox="1"/>
          <p:nvPr/>
        </p:nvSpPr>
        <p:spPr>
          <a:xfrm>
            <a:off x="1957753" y="4360983"/>
            <a:ext cx="297766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DM </a:t>
            </a:r>
            <a:r>
              <a:rPr lang="en-US" sz="2800" dirty="0" err="1"/>
              <a:t>Sendouts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BABDD-6230-883C-B4F4-EC8E3119554B}"/>
              </a:ext>
            </a:extLst>
          </p:cNvPr>
          <p:cNvSpPr txBox="1"/>
          <p:nvPr/>
        </p:nvSpPr>
        <p:spPr>
          <a:xfrm>
            <a:off x="6729045" y="4360983"/>
            <a:ext cx="318867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Digital Interactions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D08561-6314-87E0-C2FB-AEB657CC611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446584" y="2668542"/>
            <a:ext cx="1946031" cy="1692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53CDC9-9EC9-4988-1484-68AE52E75E10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6301153" y="2668542"/>
            <a:ext cx="2022231" cy="1692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27E5381-EBA7-2380-7B38-98B72720675D}"/>
              </a:ext>
            </a:extLst>
          </p:cNvPr>
          <p:cNvSpPr txBox="1"/>
          <p:nvPr/>
        </p:nvSpPr>
        <p:spPr>
          <a:xfrm>
            <a:off x="3235569" y="3215322"/>
            <a:ext cx="211015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err="1"/>
              <a:t>address_id</a:t>
            </a:r>
            <a:endParaRPr lang="en-US" sz="20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B4C0A8-5733-CB82-AAB5-317CDEC71833}"/>
              </a:ext>
            </a:extLst>
          </p:cNvPr>
          <p:cNvSpPr txBox="1"/>
          <p:nvPr/>
        </p:nvSpPr>
        <p:spPr>
          <a:xfrm>
            <a:off x="6301153" y="3198873"/>
            <a:ext cx="211015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err="1"/>
              <a:t>cookie_id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58855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9AB8FE-E6B1-939E-2689-7C88A7E83168}"/>
              </a:ext>
            </a:extLst>
          </p:cNvPr>
          <p:cNvSpPr txBox="1">
            <a:spLocks/>
          </p:cNvSpPr>
          <p:nvPr/>
        </p:nvSpPr>
        <p:spPr>
          <a:xfrm>
            <a:off x="838200" y="17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Direct Link Attribution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C63BBD-4671-ED15-EB57-7DD9C5F4C60F}"/>
              </a:ext>
            </a:extLst>
          </p:cNvPr>
          <p:cNvSpPr/>
          <p:nvPr/>
        </p:nvSpPr>
        <p:spPr>
          <a:xfrm>
            <a:off x="1770186" y="1327275"/>
            <a:ext cx="5205046" cy="4968017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2F3EB9-546F-1D91-B9FD-305C0935849B}"/>
              </a:ext>
            </a:extLst>
          </p:cNvPr>
          <p:cNvSpPr/>
          <p:nvPr/>
        </p:nvSpPr>
        <p:spPr>
          <a:xfrm>
            <a:off x="3763117" y="820614"/>
            <a:ext cx="6274760" cy="583809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409E21-77E4-5D57-AA32-637FD070D406}"/>
              </a:ext>
            </a:extLst>
          </p:cNvPr>
          <p:cNvSpPr/>
          <p:nvPr/>
        </p:nvSpPr>
        <p:spPr>
          <a:xfrm>
            <a:off x="1770186" y="1327275"/>
            <a:ext cx="5205046" cy="49680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8B6E2-3579-4E22-E415-D0B96DE07B92}"/>
              </a:ext>
            </a:extLst>
          </p:cNvPr>
          <p:cNvSpPr txBox="1"/>
          <p:nvPr/>
        </p:nvSpPr>
        <p:spPr>
          <a:xfrm>
            <a:off x="2154123" y="3224229"/>
            <a:ext cx="1395045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Digital</a:t>
            </a:r>
          </a:p>
          <a:p>
            <a:pPr algn="ctr"/>
            <a:r>
              <a:rPr lang="en-US" u="sng" dirty="0"/>
              <a:t>Interactions</a:t>
            </a:r>
          </a:p>
          <a:p>
            <a:pPr algn="ctr"/>
            <a:r>
              <a:rPr lang="en-US" dirty="0"/>
              <a:t>1995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F98C5-3EDF-27FC-626C-CB32779AFC71}"/>
              </a:ext>
            </a:extLst>
          </p:cNvPr>
          <p:cNvSpPr txBox="1"/>
          <p:nvPr/>
        </p:nvSpPr>
        <p:spPr>
          <a:xfrm>
            <a:off x="7203837" y="3273731"/>
            <a:ext cx="1459523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DM </a:t>
            </a:r>
            <a:r>
              <a:rPr lang="en-US" u="sng" dirty="0" err="1"/>
              <a:t>Sendout</a:t>
            </a:r>
            <a:endParaRPr lang="en-US" u="sng" dirty="0"/>
          </a:p>
          <a:p>
            <a:pPr algn="ctr"/>
            <a:r>
              <a:rPr lang="en-US" dirty="0"/>
              <a:t>2999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4C86F8-2AB3-10D3-1DFF-E8E0CC460A66}"/>
              </a:ext>
            </a:extLst>
          </p:cNvPr>
          <p:cNvSpPr/>
          <p:nvPr/>
        </p:nvSpPr>
        <p:spPr>
          <a:xfrm>
            <a:off x="4437183" y="28177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A94B11-BF02-6C50-AE55-BFAFECECA65B}"/>
              </a:ext>
            </a:extLst>
          </p:cNvPr>
          <p:cNvSpPr/>
          <p:nvPr/>
        </p:nvSpPr>
        <p:spPr>
          <a:xfrm>
            <a:off x="4507521" y="20607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C2A604D-6DF6-9084-DDF9-D11F3BA47639}"/>
              </a:ext>
            </a:extLst>
          </p:cNvPr>
          <p:cNvSpPr/>
          <p:nvPr/>
        </p:nvSpPr>
        <p:spPr>
          <a:xfrm>
            <a:off x="4589583" y="29701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602E295-F942-F505-FA98-42C3487ECED9}"/>
              </a:ext>
            </a:extLst>
          </p:cNvPr>
          <p:cNvSpPr/>
          <p:nvPr/>
        </p:nvSpPr>
        <p:spPr>
          <a:xfrm>
            <a:off x="4741983" y="31225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32212A-B7A9-A545-3441-0E5B74985F0F}"/>
              </a:ext>
            </a:extLst>
          </p:cNvPr>
          <p:cNvSpPr/>
          <p:nvPr/>
        </p:nvSpPr>
        <p:spPr>
          <a:xfrm>
            <a:off x="4894383" y="32749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45EA1B5-FB78-D97E-3A72-B3C6AF193FFB}"/>
              </a:ext>
            </a:extLst>
          </p:cNvPr>
          <p:cNvSpPr/>
          <p:nvPr/>
        </p:nvSpPr>
        <p:spPr>
          <a:xfrm>
            <a:off x="5046783" y="34273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C83D1B-CAE5-8C25-FB3E-77F39ABE80C0}"/>
              </a:ext>
            </a:extLst>
          </p:cNvPr>
          <p:cNvSpPr/>
          <p:nvPr/>
        </p:nvSpPr>
        <p:spPr>
          <a:xfrm>
            <a:off x="5199183" y="35797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B149371-7176-B2D6-ECD5-17EC28D10A1C}"/>
              </a:ext>
            </a:extLst>
          </p:cNvPr>
          <p:cNvSpPr/>
          <p:nvPr/>
        </p:nvSpPr>
        <p:spPr>
          <a:xfrm>
            <a:off x="5351583" y="37321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D892B7-A3FF-9EB4-02A5-7488CA824CF0}"/>
              </a:ext>
            </a:extLst>
          </p:cNvPr>
          <p:cNvSpPr/>
          <p:nvPr/>
        </p:nvSpPr>
        <p:spPr>
          <a:xfrm>
            <a:off x="5503983" y="38845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B385EA-5961-6D0A-531F-78028AB545AF}"/>
              </a:ext>
            </a:extLst>
          </p:cNvPr>
          <p:cNvSpPr/>
          <p:nvPr/>
        </p:nvSpPr>
        <p:spPr>
          <a:xfrm>
            <a:off x="5656383" y="40369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A725AB-8437-DEF1-7B5D-C16711A2974E}"/>
              </a:ext>
            </a:extLst>
          </p:cNvPr>
          <p:cNvSpPr/>
          <p:nvPr/>
        </p:nvSpPr>
        <p:spPr>
          <a:xfrm>
            <a:off x="5808783" y="41893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8612D96-F889-78A8-2D7F-D90A9AD97C57}"/>
              </a:ext>
            </a:extLst>
          </p:cNvPr>
          <p:cNvSpPr/>
          <p:nvPr/>
        </p:nvSpPr>
        <p:spPr>
          <a:xfrm>
            <a:off x="5961183" y="43417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738DA57-1AAF-15EC-4BA5-ACC745C24119}"/>
              </a:ext>
            </a:extLst>
          </p:cNvPr>
          <p:cNvSpPr/>
          <p:nvPr/>
        </p:nvSpPr>
        <p:spPr>
          <a:xfrm>
            <a:off x="6113583" y="44941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FC1360C-2A88-353B-B391-C7B342F6673B}"/>
              </a:ext>
            </a:extLst>
          </p:cNvPr>
          <p:cNvSpPr/>
          <p:nvPr/>
        </p:nvSpPr>
        <p:spPr>
          <a:xfrm>
            <a:off x="4659921" y="22131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3ACDC3B-350A-E272-209F-49BA41D03C39}"/>
              </a:ext>
            </a:extLst>
          </p:cNvPr>
          <p:cNvSpPr/>
          <p:nvPr/>
        </p:nvSpPr>
        <p:spPr>
          <a:xfrm>
            <a:off x="4812321" y="23655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0615262-5495-B3B6-B59B-289D433B9911}"/>
              </a:ext>
            </a:extLst>
          </p:cNvPr>
          <p:cNvSpPr/>
          <p:nvPr/>
        </p:nvSpPr>
        <p:spPr>
          <a:xfrm>
            <a:off x="4964721" y="25179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A7D9E6-D6B2-27AB-4440-3B5192E035BA}"/>
              </a:ext>
            </a:extLst>
          </p:cNvPr>
          <p:cNvSpPr/>
          <p:nvPr/>
        </p:nvSpPr>
        <p:spPr>
          <a:xfrm>
            <a:off x="5117121" y="26703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76A9953-C4AF-6B7C-9502-CA877FCD7209}"/>
              </a:ext>
            </a:extLst>
          </p:cNvPr>
          <p:cNvSpPr/>
          <p:nvPr/>
        </p:nvSpPr>
        <p:spPr>
          <a:xfrm>
            <a:off x="5269521" y="28227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6E98676-12A7-BA0D-D70A-DCEF87DCB2E9}"/>
              </a:ext>
            </a:extLst>
          </p:cNvPr>
          <p:cNvSpPr/>
          <p:nvPr/>
        </p:nvSpPr>
        <p:spPr>
          <a:xfrm>
            <a:off x="5421921" y="29751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4CEE5F0-E20E-FCFC-4C72-F72F96A22CD5}"/>
              </a:ext>
            </a:extLst>
          </p:cNvPr>
          <p:cNvSpPr/>
          <p:nvPr/>
        </p:nvSpPr>
        <p:spPr>
          <a:xfrm>
            <a:off x="5574321" y="31275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FB1CCC-6443-461B-D20C-5C2A7CB8A3BF}"/>
              </a:ext>
            </a:extLst>
          </p:cNvPr>
          <p:cNvSpPr/>
          <p:nvPr/>
        </p:nvSpPr>
        <p:spPr>
          <a:xfrm>
            <a:off x="5726721" y="32799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226724C-18A7-1127-388B-646CB27D5FF7}"/>
              </a:ext>
            </a:extLst>
          </p:cNvPr>
          <p:cNvSpPr/>
          <p:nvPr/>
        </p:nvSpPr>
        <p:spPr>
          <a:xfrm>
            <a:off x="5879121" y="34323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7E5B273-B363-14B7-4DEE-55C24876C513}"/>
              </a:ext>
            </a:extLst>
          </p:cNvPr>
          <p:cNvSpPr/>
          <p:nvPr/>
        </p:nvSpPr>
        <p:spPr>
          <a:xfrm>
            <a:off x="6031521" y="35847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F4A6088-CB37-DF8F-41A1-87822F1861CA}"/>
              </a:ext>
            </a:extLst>
          </p:cNvPr>
          <p:cNvSpPr/>
          <p:nvPr/>
        </p:nvSpPr>
        <p:spPr>
          <a:xfrm>
            <a:off x="6183921" y="37371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87D429A-1C07-AB5E-BE06-D90EF3296044}"/>
              </a:ext>
            </a:extLst>
          </p:cNvPr>
          <p:cNvSpPr/>
          <p:nvPr/>
        </p:nvSpPr>
        <p:spPr>
          <a:xfrm>
            <a:off x="6336321" y="38895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EE2DD33-5981-840D-C7CD-41D6F8A48BA9}"/>
              </a:ext>
            </a:extLst>
          </p:cNvPr>
          <p:cNvSpPr/>
          <p:nvPr/>
        </p:nvSpPr>
        <p:spPr>
          <a:xfrm>
            <a:off x="6488721" y="40419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9757AA7-4F07-9FEF-9722-A610AB65812C}"/>
              </a:ext>
            </a:extLst>
          </p:cNvPr>
          <p:cNvSpPr/>
          <p:nvPr/>
        </p:nvSpPr>
        <p:spPr>
          <a:xfrm>
            <a:off x="6641121" y="4194384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2E8C3C3C-57E1-1943-AB84-7F5F41F8E427}"/>
              </a:ext>
            </a:extLst>
          </p:cNvPr>
          <p:cNvSpPr/>
          <p:nvPr/>
        </p:nvSpPr>
        <p:spPr>
          <a:xfrm>
            <a:off x="4906106" y="18142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803A635-3D49-3CBA-2E72-61F196125AF9}"/>
              </a:ext>
            </a:extLst>
          </p:cNvPr>
          <p:cNvSpPr/>
          <p:nvPr/>
        </p:nvSpPr>
        <p:spPr>
          <a:xfrm>
            <a:off x="5058506" y="19666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BEA5B5A-3941-8367-4107-274ED17DC6F9}"/>
              </a:ext>
            </a:extLst>
          </p:cNvPr>
          <p:cNvSpPr/>
          <p:nvPr/>
        </p:nvSpPr>
        <p:spPr>
          <a:xfrm>
            <a:off x="5210906" y="21190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5F603E1-83FB-2880-7D62-485BF9FF39B1}"/>
              </a:ext>
            </a:extLst>
          </p:cNvPr>
          <p:cNvSpPr/>
          <p:nvPr/>
        </p:nvSpPr>
        <p:spPr>
          <a:xfrm>
            <a:off x="5363306" y="22714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6880AB6-C3A6-5ABC-CC30-3DC5358378E9}"/>
              </a:ext>
            </a:extLst>
          </p:cNvPr>
          <p:cNvSpPr/>
          <p:nvPr/>
        </p:nvSpPr>
        <p:spPr>
          <a:xfrm>
            <a:off x="5515706" y="24238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69AE9C3-6F93-D2FD-1BB1-17528EF49164}"/>
              </a:ext>
            </a:extLst>
          </p:cNvPr>
          <p:cNvSpPr/>
          <p:nvPr/>
        </p:nvSpPr>
        <p:spPr>
          <a:xfrm>
            <a:off x="5668106" y="25762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C0BD69B-575A-05DB-EBD4-F41DC5A4E8CC}"/>
              </a:ext>
            </a:extLst>
          </p:cNvPr>
          <p:cNvSpPr/>
          <p:nvPr/>
        </p:nvSpPr>
        <p:spPr>
          <a:xfrm>
            <a:off x="5820506" y="27286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6CC3853-C799-5941-0DA9-7015FB1C07D6}"/>
              </a:ext>
            </a:extLst>
          </p:cNvPr>
          <p:cNvSpPr/>
          <p:nvPr/>
        </p:nvSpPr>
        <p:spPr>
          <a:xfrm>
            <a:off x="5972906" y="28810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16AD02A-FEE8-49ED-57F5-50E8A38EDED4}"/>
              </a:ext>
            </a:extLst>
          </p:cNvPr>
          <p:cNvSpPr/>
          <p:nvPr/>
        </p:nvSpPr>
        <p:spPr>
          <a:xfrm>
            <a:off x="6125306" y="30334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D4E56F0-199B-73DA-9EB6-33CCB981A86F}"/>
              </a:ext>
            </a:extLst>
          </p:cNvPr>
          <p:cNvSpPr/>
          <p:nvPr/>
        </p:nvSpPr>
        <p:spPr>
          <a:xfrm>
            <a:off x="6277706" y="31858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BF63E72-452C-1D06-3CFD-24396C37DB75}"/>
              </a:ext>
            </a:extLst>
          </p:cNvPr>
          <p:cNvSpPr/>
          <p:nvPr/>
        </p:nvSpPr>
        <p:spPr>
          <a:xfrm>
            <a:off x="6430106" y="33382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BF70FA7-1FA3-1AF3-EBE0-DBAD9BC561CA}"/>
              </a:ext>
            </a:extLst>
          </p:cNvPr>
          <p:cNvSpPr/>
          <p:nvPr/>
        </p:nvSpPr>
        <p:spPr>
          <a:xfrm>
            <a:off x="6582506" y="34906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86D862B-AAFA-673E-06DF-51C6606FC7B7}"/>
              </a:ext>
            </a:extLst>
          </p:cNvPr>
          <p:cNvSpPr/>
          <p:nvPr/>
        </p:nvSpPr>
        <p:spPr>
          <a:xfrm>
            <a:off x="6734906" y="3643009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B64BFAA-EBAF-09CB-5838-764E3E64A8EF}"/>
              </a:ext>
            </a:extLst>
          </p:cNvPr>
          <p:cNvSpPr/>
          <p:nvPr/>
        </p:nvSpPr>
        <p:spPr>
          <a:xfrm>
            <a:off x="6265983" y="46465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1CFF2105-6899-D265-3B7B-34020731A388}"/>
              </a:ext>
            </a:extLst>
          </p:cNvPr>
          <p:cNvSpPr/>
          <p:nvPr/>
        </p:nvSpPr>
        <p:spPr>
          <a:xfrm>
            <a:off x="3909645" y="30334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21599B4-A21F-FCA8-1BCC-07EF824DE67B}"/>
              </a:ext>
            </a:extLst>
          </p:cNvPr>
          <p:cNvSpPr/>
          <p:nvPr/>
        </p:nvSpPr>
        <p:spPr>
          <a:xfrm>
            <a:off x="4062045" y="31858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14AE069A-DB56-7312-707F-43EEED1D73F3}"/>
              </a:ext>
            </a:extLst>
          </p:cNvPr>
          <p:cNvSpPr/>
          <p:nvPr/>
        </p:nvSpPr>
        <p:spPr>
          <a:xfrm>
            <a:off x="4214445" y="33382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86679DFB-1EC3-223C-0363-D32E085D4475}"/>
              </a:ext>
            </a:extLst>
          </p:cNvPr>
          <p:cNvSpPr/>
          <p:nvPr/>
        </p:nvSpPr>
        <p:spPr>
          <a:xfrm>
            <a:off x="4366845" y="34906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5E0C5921-CF4F-382D-4408-D486BA69E980}"/>
              </a:ext>
            </a:extLst>
          </p:cNvPr>
          <p:cNvSpPr/>
          <p:nvPr/>
        </p:nvSpPr>
        <p:spPr>
          <a:xfrm>
            <a:off x="4519245" y="36430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33BADD94-05C6-8932-0FAA-4415DAB28764}"/>
              </a:ext>
            </a:extLst>
          </p:cNvPr>
          <p:cNvSpPr/>
          <p:nvPr/>
        </p:nvSpPr>
        <p:spPr>
          <a:xfrm>
            <a:off x="4671645" y="37954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546A1B8-A92F-F66D-7C14-A2AEAC648AAE}"/>
              </a:ext>
            </a:extLst>
          </p:cNvPr>
          <p:cNvSpPr/>
          <p:nvPr/>
        </p:nvSpPr>
        <p:spPr>
          <a:xfrm>
            <a:off x="4824045" y="39478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D4F2412E-8987-F3DE-0038-D689C0AAF8FC}"/>
              </a:ext>
            </a:extLst>
          </p:cNvPr>
          <p:cNvSpPr/>
          <p:nvPr/>
        </p:nvSpPr>
        <p:spPr>
          <a:xfrm>
            <a:off x="4976445" y="41002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02CAA53-9584-62DC-44FD-C37806691F32}"/>
              </a:ext>
            </a:extLst>
          </p:cNvPr>
          <p:cNvSpPr/>
          <p:nvPr/>
        </p:nvSpPr>
        <p:spPr>
          <a:xfrm>
            <a:off x="5128845" y="42526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983F4FD-D827-8162-C7AB-E87AF4CA9D7A}"/>
              </a:ext>
            </a:extLst>
          </p:cNvPr>
          <p:cNvSpPr/>
          <p:nvPr/>
        </p:nvSpPr>
        <p:spPr>
          <a:xfrm>
            <a:off x="5281245" y="44050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2EE741C2-BF6E-F08A-1720-B31F69D9052F}"/>
              </a:ext>
            </a:extLst>
          </p:cNvPr>
          <p:cNvSpPr/>
          <p:nvPr/>
        </p:nvSpPr>
        <p:spPr>
          <a:xfrm>
            <a:off x="5433645" y="45574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09C65BC4-FF58-1CA0-FB02-473153A639E0}"/>
              </a:ext>
            </a:extLst>
          </p:cNvPr>
          <p:cNvSpPr/>
          <p:nvPr/>
        </p:nvSpPr>
        <p:spPr>
          <a:xfrm>
            <a:off x="5586045" y="47098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A62C9C41-1324-3F30-D767-2B9886CDE2A1}"/>
              </a:ext>
            </a:extLst>
          </p:cNvPr>
          <p:cNvSpPr/>
          <p:nvPr/>
        </p:nvSpPr>
        <p:spPr>
          <a:xfrm>
            <a:off x="5738445" y="48622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F23E0FF9-B98B-6A7D-F3F8-C68E82B98C9F}"/>
              </a:ext>
            </a:extLst>
          </p:cNvPr>
          <p:cNvSpPr/>
          <p:nvPr/>
        </p:nvSpPr>
        <p:spPr>
          <a:xfrm>
            <a:off x="5890845" y="50146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3A02577-A1AF-8532-EEE9-A5CDC50D0001}"/>
              </a:ext>
            </a:extLst>
          </p:cNvPr>
          <p:cNvSpPr/>
          <p:nvPr/>
        </p:nvSpPr>
        <p:spPr>
          <a:xfrm>
            <a:off x="6043245" y="516700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5C45B1C6-5128-7319-3CAB-424DA8B7127F}"/>
              </a:ext>
            </a:extLst>
          </p:cNvPr>
          <p:cNvSpPr/>
          <p:nvPr/>
        </p:nvSpPr>
        <p:spPr>
          <a:xfrm>
            <a:off x="3815866" y="38112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55CC548D-450D-C222-3B16-F93423FCF2B5}"/>
              </a:ext>
            </a:extLst>
          </p:cNvPr>
          <p:cNvSpPr/>
          <p:nvPr/>
        </p:nvSpPr>
        <p:spPr>
          <a:xfrm>
            <a:off x="3968266" y="39636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F3786729-CF4D-89C3-8145-342A695F3640}"/>
              </a:ext>
            </a:extLst>
          </p:cNvPr>
          <p:cNvSpPr/>
          <p:nvPr/>
        </p:nvSpPr>
        <p:spPr>
          <a:xfrm>
            <a:off x="4120666" y="41160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4E9E1082-D30A-D2A3-CB89-F63C760B4D3B}"/>
              </a:ext>
            </a:extLst>
          </p:cNvPr>
          <p:cNvSpPr/>
          <p:nvPr/>
        </p:nvSpPr>
        <p:spPr>
          <a:xfrm>
            <a:off x="4273066" y="42684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22EDAFB1-38E2-0DE1-DFD8-5F2B41A25BF1}"/>
              </a:ext>
            </a:extLst>
          </p:cNvPr>
          <p:cNvSpPr/>
          <p:nvPr/>
        </p:nvSpPr>
        <p:spPr>
          <a:xfrm>
            <a:off x="4425466" y="44208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878CAC2-9805-A616-B731-45E93927790F}"/>
              </a:ext>
            </a:extLst>
          </p:cNvPr>
          <p:cNvSpPr/>
          <p:nvPr/>
        </p:nvSpPr>
        <p:spPr>
          <a:xfrm>
            <a:off x="4577866" y="45732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EAB8354-A108-B92F-988B-010EB301BFC9}"/>
              </a:ext>
            </a:extLst>
          </p:cNvPr>
          <p:cNvSpPr/>
          <p:nvPr/>
        </p:nvSpPr>
        <p:spPr>
          <a:xfrm>
            <a:off x="4730266" y="47256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BCCD468F-F688-EC00-6A47-D7964F12FFB7}"/>
              </a:ext>
            </a:extLst>
          </p:cNvPr>
          <p:cNvSpPr/>
          <p:nvPr/>
        </p:nvSpPr>
        <p:spPr>
          <a:xfrm>
            <a:off x="4882666" y="48780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06D8B4C7-6484-E908-EF7F-5A4F2D40AF50}"/>
              </a:ext>
            </a:extLst>
          </p:cNvPr>
          <p:cNvSpPr/>
          <p:nvPr/>
        </p:nvSpPr>
        <p:spPr>
          <a:xfrm>
            <a:off x="5035066" y="50304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3AD6B4CA-9DFC-CBEC-A976-99D10BF8DD84}"/>
              </a:ext>
            </a:extLst>
          </p:cNvPr>
          <p:cNvSpPr/>
          <p:nvPr/>
        </p:nvSpPr>
        <p:spPr>
          <a:xfrm>
            <a:off x="5187466" y="51828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69E6685F-B629-10F3-98F3-186B700B4130}"/>
              </a:ext>
            </a:extLst>
          </p:cNvPr>
          <p:cNvSpPr/>
          <p:nvPr/>
        </p:nvSpPr>
        <p:spPr>
          <a:xfrm>
            <a:off x="5339866" y="53352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E45DD6A3-D563-2352-F9D3-CF6EC17A03FB}"/>
              </a:ext>
            </a:extLst>
          </p:cNvPr>
          <p:cNvSpPr/>
          <p:nvPr/>
        </p:nvSpPr>
        <p:spPr>
          <a:xfrm>
            <a:off x="5492266" y="54876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4910825E-F01D-7B19-52C7-648124FD08F5}"/>
              </a:ext>
            </a:extLst>
          </p:cNvPr>
          <p:cNvSpPr/>
          <p:nvPr/>
        </p:nvSpPr>
        <p:spPr>
          <a:xfrm>
            <a:off x="4158758" y="252644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A2F29B7-213C-7ACD-6245-15B302693DC8}"/>
              </a:ext>
            </a:extLst>
          </p:cNvPr>
          <p:cNvSpPr/>
          <p:nvPr/>
        </p:nvSpPr>
        <p:spPr>
          <a:xfrm>
            <a:off x="4311158" y="2678848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18D3870A-CF4C-A947-EFFE-A672001EFAE0}"/>
              </a:ext>
            </a:extLst>
          </p:cNvPr>
          <p:cNvSpPr/>
          <p:nvPr/>
        </p:nvSpPr>
        <p:spPr>
          <a:xfrm>
            <a:off x="5644666" y="5640083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B7634759-6EDA-8B59-7073-62BCD9535226}"/>
              </a:ext>
            </a:extLst>
          </p:cNvPr>
          <p:cNvSpPr/>
          <p:nvPr/>
        </p:nvSpPr>
        <p:spPr>
          <a:xfrm>
            <a:off x="3992980" y="463948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F729AC81-7E0A-16F4-C2FA-E0095939CE52}"/>
              </a:ext>
            </a:extLst>
          </p:cNvPr>
          <p:cNvSpPr/>
          <p:nvPr/>
        </p:nvSpPr>
        <p:spPr>
          <a:xfrm>
            <a:off x="4120666" y="481660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1B5B6493-692D-B231-8A6C-C068F8F08BFA}"/>
              </a:ext>
            </a:extLst>
          </p:cNvPr>
          <p:cNvSpPr/>
          <p:nvPr/>
        </p:nvSpPr>
        <p:spPr>
          <a:xfrm>
            <a:off x="4273066" y="496900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D5A7632-F57F-58B5-AFCB-930BAF539E50}"/>
              </a:ext>
            </a:extLst>
          </p:cNvPr>
          <p:cNvSpPr/>
          <p:nvPr/>
        </p:nvSpPr>
        <p:spPr>
          <a:xfrm>
            <a:off x="4425466" y="512140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454854A9-4285-58B9-08F5-F308809F5D08}"/>
              </a:ext>
            </a:extLst>
          </p:cNvPr>
          <p:cNvSpPr/>
          <p:nvPr/>
        </p:nvSpPr>
        <p:spPr>
          <a:xfrm>
            <a:off x="4577866" y="527380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AD288E27-1507-7A09-CD21-2DC6B27153C3}"/>
              </a:ext>
            </a:extLst>
          </p:cNvPr>
          <p:cNvSpPr/>
          <p:nvPr/>
        </p:nvSpPr>
        <p:spPr>
          <a:xfrm>
            <a:off x="4730266" y="542620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93FEF4D9-96D0-BB65-8A6F-24F54B33D3FC}"/>
              </a:ext>
            </a:extLst>
          </p:cNvPr>
          <p:cNvSpPr/>
          <p:nvPr/>
        </p:nvSpPr>
        <p:spPr>
          <a:xfrm>
            <a:off x="4882666" y="557860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78205F27-3489-2CC2-8D43-0A3396A547F7}"/>
              </a:ext>
            </a:extLst>
          </p:cNvPr>
          <p:cNvSpPr/>
          <p:nvPr/>
        </p:nvSpPr>
        <p:spPr>
          <a:xfrm>
            <a:off x="5035066" y="573100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EE56FA9F-4524-09C9-73F6-8819AD15676F}"/>
              </a:ext>
            </a:extLst>
          </p:cNvPr>
          <p:cNvSpPr/>
          <p:nvPr/>
        </p:nvSpPr>
        <p:spPr>
          <a:xfrm>
            <a:off x="5410204" y="16061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34923537-06C9-7EAB-C457-88118EE5492D}"/>
              </a:ext>
            </a:extLst>
          </p:cNvPr>
          <p:cNvSpPr/>
          <p:nvPr/>
        </p:nvSpPr>
        <p:spPr>
          <a:xfrm>
            <a:off x="5562604" y="17585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C7641C80-6B0F-4D29-1DF3-610CB50E629A}"/>
              </a:ext>
            </a:extLst>
          </p:cNvPr>
          <p:cNvSpPr/>
          <p:nvPr/>
        </p:nvSpPr>
        <p:spPr>
          <a:xfrm>
            <a:off x="5715004" y="19109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0298B93-7F48-F409-C8E6-CAABA0C06926}"/>
              </a:ext>
            </a:extLst>
          </p:cNvPr>
          <p:cNvSpPr/>
          <p:nvPr/>
        </p:nvSpPr>
        <p:spPr>
          <a:xfrm>
            <a:off x="5867404" y="20633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9783695F-C25B-D48F-6D8D-D5C216D07E21}"/>
              </a:ext>
            </a:extLst>
          </p:cNvPr>
          <p:cNvSpPr/>
          <p:nvPr/>
        </p:nvSpPr>
        <p:spPr>
          <a:xfrm>
            <a:off x="6019804" y="22157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8F401D58-0938-87DC-39BC-3280E7FBDD8D}"/>
              </a:ext>
            </a:extLst>
          </p:cNvPr>
          <p:cNvSpPr/>
          <p:nvPr/>
        </p:nvSpPr>
        <p:spPr>
          <a:xfrm>
            <a:off x="6172204" y="23681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B17C81AC-9D1F-AE68-62C8-0FF36AF3D3AB}"/>
              </a:ext>
            </a:extLst>
          </p:cNvPr>
          <p:cNvSpPr/>
          <p:nvPr/>
        </p:nvSpPr>
        <p:spPr>
          <a:xfrm>
            <a:off x="6324604" y="25205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266708C6-FB3A-12DE-D9D5-5E52398487AC}"/>
              </a:ext>
            </a:extLst>
          </p:cNvPr>
          <p:cNvSpPr/>
          <p:nvPr/>
        </p:nvSpPr>
        <p:spPr>
          <a:xfrm>
            <a:off x="6477004" y="2672906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5022737-07E3-F9E6-022F-F1262E73EE68}"/>
              </a:ext>
            </a:extLst>
          </p:cNvPr>
          <p:cNvSpPr txBox="1"/>
          <p:nvPr/>
        </p:nvSpPr>
        <p:spPr>
          <a:xfrm>
            <a:off x="4588448" y="3228803"/>
            <a:ext cx="1437531" cy="92333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Digital &amp;</a:t>
            </a:r>
          </a:p>
          <a:p>
            <a:pPr algn="ctr"/>
            <a:r>
              <a:rPr lang="en-US" u="sng" dirty="0"/>
              <a:t>DM </a:t>
            </a:r>
            <a:r>
              <a:rPr lang="en-US" u="sng" dirty="0" err="1"/>
              <a:t>Sendout</a:t>
            </a:r>
            <a:endParaRPr lang="en-US" u="sng" dirty="0"/>
          </a:p>
          <a:p>
            <a:pPr algn="ctr"/>
            <a:r>
              <a:rPr lang="en-US" dirty="0"/>
              <a:t>3558</a:t>
            </a: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9B9ED916-2D8D-BCC1-E5D5-C9D32A0EFF7D}"/>
              </a:ext>
            </a:extLst>
          </p:cNvPr>
          <p:cNvSpPr/>
          <p:nvPr/>
        </p:nvSpPr>
        <p:spPr>
          <a:xfrm>
            <a:off x="6605958" y="2848752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F37D0231-A982-8D9B-7BAB-1A9CB450852C}"/>
              </a:ext>
            </a:extLst>
          </p:cNvPr>
          <p:cNvSpPr/>
          <p:nvPr/>
        </p:nvSpPr>
        <p:spPr>
          <a:xfrm>
            <a:off x="6418383" y="4798940"/>
            <a:ext cx="164123" cy="17584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4E1DF03E-D50F-EC33-F3DA-ED587A74339F}"/>
              </a:ext>
            </a:extLst>
          </p:cNvPr>
          <p:cNvSpPr/>
          <p:nvPr/>
        </p:nvSpPr>
        <p:spPr>
          <a:xfrm>
            <a:off x="9284692" y="1914447"/>
            <a:ext cx="2719740" cy="357323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2"/>
                </a:solidFill>
              </a:ln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9524CE8-EDDE-F26E-AEEC-890E99B1176A}"/>
              </a:ext>
            </a:extLst>
          </p:cNvPr>
          <p:cNvSpPr txBox="1"/>
          <p:nvPr/>
        </p:nvSpPr>
        <p:spPr>
          <a:xfrm>
            <a:off x="9864967" y="2119009"/>
            <a:ext cx="169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Assumptions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66CA052-47BF-9DE2-92C0-835576F3BACA}"/>
              </a:ext>
            </a:extLst>
          </p:cNvPr>
          <p:cNvSpPr txBox="1"/>
          <p:nvPr/>
        </p:nvSpPr>
        <p:spPr>
          <a:xfrm>
            <a:off x="9571891" y="2589343"/>
            <a:ext cx="22772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Excluded if only interaction is one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Paid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Organic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01B73DB-C513-5803-B728-9AAE8EC6E968}"/>
              </a:ext>
            </a:extLst>
          </p:cNvPr>
          <p:cNvSpPr txBox="1"/>
          <p:nvPr/>
        </p:nvSpPr>
        <p:spPr>
          <a:xfrm>
            <a:off x="9648096" y="4186413"/>
            <a:ext cx="2409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Interactions older than 7 days before sale are excluded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2C80C-7F31-4042-5C9C-685582DB9254}"/>
              </a:ext>
            </a:extLst>
          </p:cNvPr>
          <p:cNvSpPr txBox="1"/>
          <p:nvPr/>
        </p:nvSpPr>
        <p:spPr>
          <a:xfrm>
            <a:off x="1072663" y="5663530"/>
            <a:ext cx="1395045" cy="923330"/>
          </a:xfrm>
          <a:prstGeom prst="rect">
            <a:avLst/>
          </a:prstGeom>
          <a:solidFill>
            <a:schemeClr val="bg1"/>
          </a:solidFill>
          <a:ln w="28575">
            <a:solidFill>
              <a:srgbClr val="B8C6D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Digital</a:t>
            </a:r>
          </a:p>
          <a:p>
            <a:pPr algn="ctr"/>
            <a:r>
              <a:rPr lang="en-US" u="sng" dirty="0"/>
              <a:t>Interactions</a:t>
            </a:r>
          </a:p>
          <a:p>
            <a:pPr algn="ctr"/>
            <a:r>
              <a:rPr lang="en-US" dirty="0"/>
              <a:t>5553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73B3F-7C72-9C05-916E-3CE0B538B676}"/>
              </a:ext>
            </a:extLst>
          </p:cNvPr>
          <p:cNvSpPr txBox="1"/>
          <p:nvPr/>
        </p:nvSpPr>
        <p:spPr>
          <a:xfrm>
            <a:off x="9460515" y="5815930"/>
            <a:ext cx="1459523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DM </a:t>
            </a:r>
            <a:r>
              <a:rPr lang="en-US" u="sng" dirty="0" err="1"/>
              <a:t>Sendout</a:t>
            </a:r>
            <a:endParaRPr lang="en-US" u="sng" dirty="0"/>
          </a:p>
          <a:p>
            <a:pPr algn="ctr"/>
            <a:r>
              <a:rPr lang="en-US" dirty="0"/>
              <a:t>6557</a:t>
            </a:r>
          </a:p>
        </p:txBody>
      </p:sp>
    </p:spTree>
    <p:extLst>
      <p:ext uri="{BB962C8B-B14F-4D97-AF65-F5344CB8AC3E}">
        <p14:creationId xmlns:p14="http://schemas.microsoft.com/office/powerpoint/2010/main" val="14028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/>
      <p:bldP spid="217" grpId="0"/>
      <p:bldP spid="219" grpId="0"/>
      <p:bldP spid="2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A0086-C036-2B33-486F-B5689A88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6BA5A1E-3113-E211-D41A-DA1DA8887DEC}"/>
              </a:ext>
            </a:extLst>
          </p:cNvPr>
          <p:cNvSpPr/>
          <p:nvPr/>
        </p:nvSpPr>
        <p:spPr>
          <a:xfrm>
            <a:off x="8753925" y="1641226"/>
            <a:ext cx="3273262" cy="10369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7DEE7-00AD-1EDD-469D-24BC6ACB5342}"/>
              </a:ext>
            </a:extLst>
          </p:cNvPr>
          <p:cNvSpPr txBox="1"/>
          <p:nvPr/>
        </p:nvSpPr>
        <p:spPr>
          <a:xfrm>
            <a:off x="8753925" y="1266129"/>
            <a:ext cx="3273262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Incremental Lift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1FB62E-F5A2-F913-A602-5F7CA1438D08}"/>
              </a:ext>
            </a:extLst>
          </p:cNvPr>
          <p:cNvSpPr/>
          <p:nvPr/>
        </p:nvSpPr>
        <p:spPr>
          <a:xfrm>
            <a:off x="8753926" y="4654052"/>
            <a:ext cx="2599874" cy="36933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05FD7-DFF2-0728-F769-57157667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Incremental Lift for DM </a:t>
            </a:r>
            <a:r>
              <a:rPr lang="en-US" dirty="0" err="1"/>
              <a:t>Sendout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FDCFB-FD7B-1868-1659-E501B6104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1606" y="1136306"/>
            <a:ext cx="6445797" cy="5524968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DC4C19-3E13-3AF0-7363-7507B8ECD871}"/>
                  </a:ext>
                </a:extLst>
              </p:cNvPr>
              <p:cNvSpPr txBox="1"/>
              <p:nvPr/>
            </p:nvSpPr>
            <p:spPr>
              <a:xfrm>
                <a:off x="9003324" y="3725364"/>
                <a:ext cx="1749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∗0.59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FDC4C19-3E13-3AF0-7363-7507B8ECD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324" y="3725364"/>
                <a:ext cx="1749390" cy="276999"/>
              </a:xfrm>
              <a:prstGeom prst="rect">
                <a:avLst/>
              </a:prstGeom>
              <a:blipFill>
                <a:blip r:embed="rId5"/>
                <a:stretch>
                  <a:fillRect l="-1394" r="-3136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4B4BB6-C079-1CBA-E168-A6D7BBD92E41}"/>
                  </a:ext>
                </a:extLst>
              </p:cNvPr>
              <p:cNvSpPr txBox="1"/>
              <p:nvPr/>
            </p:nvSpPr>
            <p:spPr>
              <a:xfrm>
                <a:off x="9003324" y="4181448"/>
                <a:ext cx="14956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=6557 ∗0.59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4B4BB6-C079-1CBA-E168-A6D7BBD92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324" y="4181448"/>
                <a:ext cx="1495602" cy="276999"/>
              </a:xfrm>
              <a:prstGeom prst="rect">
                <a:avLst/>
              </a:prstGeom>
              <a:blipFill>
                <a:blip r:embed="rId6"/>
                <a:stretch>
                  <a:fillRect l="-1633" r="-408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965EE9-892F-A8B1-E48A-8535308C64A8}"/>
                  </a:ext>
                </a:extLst>
              </p:cNvPr>
              <p:cNvSpPr txBox="1"/>
              <p:nvPr/>
            </p:nvSpPr>
            <p:spPr>
              <a:xfrm>
                <a:off x="9003323" y="4696147"/>
                <a:ext cx="21616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=3875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𝑐𝑎𝑢𝑠𝑒𝑑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965EE9-892F-A8B1-E48A-8535308C6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323" y="4696147"/>
                <a:ext cx="2161682" cy="276999"/>
              </a:xfrm>
              <a:prstGeom prst="rect">
                <a:avLst/>
              </a:prstGeom>
              <a:blipFill>
                <a:blip r:embed="rId7"/>
                <a:stretch>
                  <a:fillRect l="-1127" r="-225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6897D5-783A-2401-F4EE-B0DD1235B9DF}"/>
                  </a:ext>
                </a:extLst>
              </p:cNvPr>
              <p:cNvSpPr txBox="1"/>
              <p:nvPr/>
            </p:nvSpPr>
            <p:spPr>
              <a:xfrm>
                <a:off x="9002288" y="2924322"/>
                <a:ext cx="2650277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88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−0.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0.88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6897D5-783A-2401-F4EE-B0DD1235B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288" y="2924322"/>
                <a:ext cx="2650277" cy="5275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E5C4A8-DBF9-24E5-D9E4-4E778CC30075}"/>
                  </a:ext>
                </a:extLst>
              </p:cNvPr>
              <p:cNvSpPr txBox="1"/>
              <p:nvPr/>
            </p:nvSpPr>
            <p:spPr>
              <a:xfrm>
                <a:off x="8908504" y="1875751"/>
                <a:ext cx="3060068" cy="574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h𝑜𝑙𝑑𝑜𝑢𝑡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h𝑜𝑙𝑑𝑜𝑢𝑡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E5C4A8-DBF9-24E5-D9E4-4E778CC30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504" y="1875751"/>
                <a:ext cx="3060068" cy="5743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37D0B49-26EA-D4FD-5FBB-0AA1EEC5BB7A}"/>
              </a:ext>
            </a:extLst>
          </p:cNvPr>
          <p:cNvSpPr txBox="1"/>
          <p:nvPr/>
        </p:nvSpPr>
        <p:spPr>
          <a:xfrm>
            <a:off x="10468708" y="50995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97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C944C-88FD-D0B5-2107-0AB5615C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A0859BB-EFBD-7203-2461-36EB2AFE70B4}"/>
              </a:ext>
            </a:extLst>
          </p:cNvPr>
          <p:cNvSpPr txBox="1"/>
          <p:nvPr/>
        </p:nvSpPr>
        <p:spPr>
          <a:xfrm>
            <a:off x="3235569" y="2018602"/>
            <a:ext cx="211015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658FB-E93F-1637-669C-AD0260C8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TV Spot Attribution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0F737-B851-07D5-A252-4A3929D3996F}"/>
              </a:ext>
            </a:extLst>
          </p:cNvPr>
          <p:cNvSpPr txBox="1"/>
          <p:nvPr/>
        </p:nvSpPr>
        <p:spPr>
          <a:xfrm>
            <a:off x="5134708" y="2145322"/>
            <a:ext cx="146538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D78EF-94D2-5251-18D5-F0D58BA7EED1}"/>
              </a:ext>
            </a:extLst>
          </p:cNvPr>
          <p:cNvSpPr txBox="1"/>
          <p:nvPr/>
        </p:nvSpPr>
        <p:spPr>
          <a:xfrm>
            <a:off x="1957753" y="4360983"/>
            <a:ext cx="297766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DM </a:t>
            </a:r>
            <a:r>
              <a:rPr lang="en-US" sz="2800" dirty="0" err="1"/>
              <a:t>Sendouts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14A5C3-FF99-C440-FC75-5C1AC858D46D}"/>
              </a:ext>
            </a:extLst>
          </p:cNvPr>
          <p:cNvSpPr txBox="1"/>
          <p:nvPr/>
        </p:nvSpPr>
        <p:spPr>
          <a:xfrm>
            <a:off x="6729045" y="4360983"/>
            <a:ext cx="318867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Digital Interactions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9FDFE0-96FE-5ACD-90B2-32DA4696ADF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446584" y="2668542"/>
            <a:ext cx="1946031" cy="1692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89E9EE-7797-2D5E-524F-B3263EB7FEDA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6301153" y="2668542"/>
            <a:ext cx="2022231" cy="16924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B2C0185-7AF9-4C96-66D0-F3309B2196D7}"/>
              </a:ext>
            </a:extLst>
          </p:cNvPr>
          <p:cNvSpPr txBox="1"/>
          <p:nvPr/>
        </p:nvSpPr>
        <p:spPr>
          <a:xfrm>
            <a:off x="3235569" y="3215322"/>
            <a:ext cx="211015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err="1"/>
              <a:t>address_id</a:t>
            </a:r>
            <a:endParaRPr lang="en-US" sz="2000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F8A191-2EB2-9B12-6B94-7BDFE1C7A064}"/>
              </a:ext>
            </a:extLst>
          </p:cNvPr>
          <p:cNvSpPr txBox="1"/>
          <p:nvPr/>
        </p:nvSpPr>
        <p:spPr>
          <a:xfrm>
            <a:off x="6301153" y="3198873"/>
            <a:ext cx="211015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err="1"/>
              <a:t>cookie_id</a:t>
            </a:r>
            <a:endParaRPr lang="en-US" sz="2000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4CBD7B-968B-211D-D550-07D7374D23CF}"/>
              </a:ext>
            </a:extLst>
          </p:cNvPr>
          <p:cNvSpPr txBox="1"/>
          <p:nvPr/>
        </p:nvSpPr>
        <p:spPr>
          <a:xfrm>
            <a:off x="363415" y="2157102"/>
            <a:ext cx="297766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TV Spot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0CB30D-BA20-1783-4EB0-1742235E173C}"/>
              </a:ext>
            </a:extLst>
          </p:cNvPr>
          <p:cNvCxnSpPr>
            <a:cxnSpLocks/>
            <a:stCxn id="29" idx="3"/>
            <a:endCxn id="3" idx="1"/>
          </p:cNvCxnSpPr>
          <p:nvPr/>
        </p:nvCxnSpPr>
        <p:spPr>
          <a:xfrm flipV="1">
            <a:off x="3341076" y="2406932"/>
            <a:ext cx="1793632" cy="1178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22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2AE2F-5CF2-53C5-61E4-F8A029DC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783A-7182-325B-D197-CB8E6701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Daily Sales Colored by TV Spot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9DB4B3-6816-53EB-969E-9F515FA35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2" y="1584568"/>
            <a:ext cx="11301984" cy="406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E61A55-3844-487E-A7F2-1FD08F1C70A1}"/>
              </a:ext>
            </a:extLst>
          </p:cNvPr>
          <p:cNvSpPr/>
          <p:nvPr/>
        </p:nvSpPr>
        <p:spPr>
          <a:xfrm>
            <a:off x="2567348" y="2543904"/>
            <a:ext cx="6975237" cy="77372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EC495-FFDB-4E68-381F-ED4C478107FD}"/>
              </a:ext>
            </a:extLst>
          </p:cNvPr>
          <p:cNvSpPr txBox="1"/>
          <p:nvPr/>
        </p:nvSpPr>
        <p:spPr>
          <a:xfrm>
            <a:off x="2836981" y="2731471"/>
            <a:ext cx="5978773" cy="40011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Insight 1</a:t>
            </a:r>
            <a:r>
              <a:rPr lang="en-US" sz="2000" dirty="0"/>
              <a:t>: TV Spot has a positive effect on sales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AFDE52-1E25-3E4B-BB60-5BFF19D99C27}"/>
              </a:ext>
            </a:extLst>
          </p:cNvPr>
          <p:cNvSpPr/>
          <p:nvPr/>
        </p:nvSpPr>
        <p:spPr>
          <a:xfrm>
            <a:off x="2567348" y="3927013"/>
            <a:ext cx="6975237" cy="773722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E7DF4-638B-7844-28CA-CE61728B6F59}"/>
              </a:ext>
            </a:extLst>
          </p:cNvPr>
          <p:cNvSpPr txBox="1"/>
          <p:nvPr/>
        </p:nvSpPr>
        <p:spPr>
          <a:xfrm>
            <a:off x="2836980" y="4114580"/>
            <a:ext cx="6389079" cy="40011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    Insight 2</a:t>
            </a:r>
            <a:r>
              <a:rPr lang="en-US" sz="2000" dirty="0"/>
              <a:t>: Effect of TV Spot seems to last for only 1 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8706DB-1994-5102-54CB-D401AD0491F7}"/>
              </a:ext>
            </a:extLst>
          </p:cNvPr>
          <p:cNvSpPr/>
          <p:nvPr/>
        </p:nvSpPr>
        <p:spPr>
          <a:xfrm>
            <a:off x="2731477" y="1840523"/>
            <a:ext cx="808892" cy="246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/>
      <p:bldP spid="11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78AFF-6D00-68F5-590F-30BFFAD9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A54CCA-ABCB-38C3-B101-311909C79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2" y="1584568"/>
            <a:ext cx="11301984" cy="406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520873-62C7-572E-9747-102FDD218753}"/>
              </a:ext>
            </a:extLst>
          </p:cNvPr>
          <p:cNvSpPr/>
          <p:nvPr/>
        </p:nvSpPr>
        <p:spPr>
          <a:xfrm>
            <a:off x="2731477" y="1840523"/>
            <a:ext cx="808892" cy="246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39D7F-9BEC-70CE-74DB-A0EEEC84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Daily Sales Colored by TV Spot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21A147-CD85-868D-9B1D-AFCCC69422AD}"/>
              </a:ext>
            </a:extLst>
          </p:cNvPr>
          <p:cNvCxnSpPr>
            <a:cxnSpLocks/>
          </p:cNvCxnSpPr>
          <p:nvPr/>
        </p:nvCxnSpPr>
        <p:spPr>
          <a:xfrm flipV="1">
            <a:off x="1559169" y="4454769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168279-A3CC-3491-2FCB-EA6EC732676E}"/>
              </a:ext>
            </a:extLst>
          </p:cNvPr>
          <p:cNvCxnSpPr>
            <a:cxnSpLocks/>
          </p:cNvCxnSpPr>
          <p:nvPr/>
        </p:nvCxnSpPr>
        <p:spPr>
          <a:xfrm>
            <a:off x="1113692" y="4443046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EBACC2-700B-4C8C-36C6-E0F303671F83}"/>
              </a:ext>
            </a:extLst>
          </p:cNvPr>
          <p:cNvCxnSpPr>
            <a:cxnSpLocks/>
          </p:cNvCxnSpPr>
          <p:nvPr/>
        </p:nvCxnSpPr>
        <p:spPr>
          <a:xfrm flipV="1">
            <a:off x="3024553" y="4466492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85C168-0D9C-DC48-FC66-0CD2804BED00}"/>
              </a:ext>
            </a:extLst>
          </p:cNvPr>
          <p:cNvCxnSpPr>
            <a:cxnSpLocks/>
          </p:cNvCxnSpPr>
          <p:nvPr/>
        </p:nvCxnSpPr>
        <p:spPr>
          <a:xfrm>
            <a:off x="2567353" y="4454769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F91A9A-87D3-C86C-81CE-C409D5F6B2CF}"/>
              </a:ext>
            </a:extLst>
          </p:cNvPr>
          <p:cNvCxnSpPr>
            <a:cxnSpLocks/>
          </p:cNvCxnSpPr>
          <p:nvPr/>
        </p:nvCxnSpPr>
        <p:spPr>
          <a:xfrm flipV="1">
            <a:off x="4700953" y="4478215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3E4429-E809-271B-7973-1313CA353702}"/>
              </a:ext>
            </a:extLst>
          </p:cNvPr>
          <p:cNvCxnSpPr>
            <a:cxnSpLocks/>
          </p:cNvCxnSpPr>
          <p:nvPr/>
        </p:nvCxnSpPr>
        <p:spPr>
          <a:xfrm>
            <a:off x="4232030" y="4466492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2D1611-4466-0F47-E629-1B6838596D91}"/>
              </a:ext>
            </a:extLst>
          </p:cNvPr>
          <p:cNvCxnSpPr>
            <a:cxnSpLocks/>
          </p:cNvCxnSpPr>
          <p:nvPr/>
        </p:nvCxnSpPr>
        <p:spPr>
          <a:xfrm flipV="1">
            <a:off x="8428891" y="4489938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7D3D92-BA2D-4E46-334D-6424EC9ADF34}"/>
              </a:ext>
            </a:extLst>
          </p:cNvPr>
          <p:cNvCxnSpPr>
            <a:cxnSpLocks/>
          </p:cNvCxnSpPr>
          <p:nvPr/>
        </p:nvCxnSpPr>
        <p:spPr>
          <a:xfrm>
            <a:off x="7971691" y="4478215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9BF502-FFBC-BF85-B0B0-7C7825BF38EA}"/>
              </a:ext>
            </a:extLst>
          </p:cNvPr>
          <p:cNvCxnSpPr>
            <a:cxnSpLocks/>
          </p:cNvCxnSpPr>
          <p:nvPr/>
        </p:nvCxnSpPr>
        <p:spPr>
          <a:xfrm flipV="1">
            <a:off x="9671537" y="4466492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53F5B1-3B17-01AB-E991-1C61CDF0A016}"/>
              </a:ext>
            </a:extLst>
          </p:cNvPr>
          <p:cNvCxnSpPr>
            <a:cxnSpLocks/>
          </p:cNvCxnSpPr>
          <p:nvPr/>
        </p:nvCxnSpPr>
        <p:spPr>
          <a:xfrm>
            <a:off x="9226060" y="4454769"/>
            <a:ext cx="844063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A1B7CF-980A-9145-C46F-B85D734D22DC}"/>
              </a:ext>
            </a:extLst>
          </p:cNvPr>
          <p:cNvCxnSpPr>
            <a:cxnSpLocks/>
          </p:cNvCxnSpPr>
          <p:nvPr/>
        </p:nvCxnSpPr>
        <p:spPr>
          <a:xfrm flipV="1">
            <a:off x="10931769" y="4489938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F95EED-6097-2217-7FF0-DDEF18F388CD}"/>
              </a:ext>
            </a:extLst>
          </p:cNvPr>
          <p:cNvCxnSpPr>
            <a:cxnSpLocks/>
          </p:cNvCxnSpPr>
          <p:nvPr/>
        </p:nvCxnSpPr>
        <p:spPr>
          <a:xfrm>
            <a:off x="10474569" y="4478215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0610ED-02EB-EC50-636D-A3A43D52928F}"/>
              </a:ext>
            </a:extLst>
          </p:cNvPr>
          <p:cNvSpPr/>
          <p:nvPr/>
        </p:nvSpPr>
        <p:spPr>
          <a:xfrm>
            <a:off x="2672865" y="1120536"/>
            <a:ext cx="6553200" cy="1325561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2"/>
                </a:solidFill>
              </a:ln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F15C88-19C4-7788-929D-C03DA0634D27}"/>
              </a:ext>
            </a:extLst>
          </p:cNvPr>
          <p:cNvSpPr txBox="1"/>
          <p:nvPr/>
        </p:nvSpPr>
        <p:spPr>
          <a:xfrm>
            <a:off x="1195762" y="1261212"/>
            <a:ext cx="9671535" cy="101566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Hypothesis: </a:t>
            </a:r>
          </a:p>
          <a:p>
            <a:pPr algn="ctr"/>
            <a:r>
              <a:rPr lang="en-US" sz="2000" dirty="0"/>
              <a:t>Model TV Spot Attribution as: </a:t>
            </a:r>
          </a:p>
          <a:p>
            <a:pPr algn="ctr"/>
            <a:r>
              <a:rPr lang="en-US" sz="2000" dirty="0"/>
              <a:t>Flat Increase of ~15 sales per day during TV Spot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6558D1-C429-22FB-825D-F7301F10833A}"/>
              </a:ext>
            </a:extLst>
          </p:cNvPr>
          <p:cNvSpPr/>
          <p:nvPr/>
        </p:nvSpPr>
        <p:spPr>
          <a:xfrm>
            <a:off x="2711785" y="2687817"/>
            <a:ext cx="6553200" cy="104823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2"/>
                </a:solidFill>
              </a:ln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28B9F8-32D7-FFA0-202A-08654B3E15E8}"/>
              </a:ext>
            </a:extLst>
          </p:cNvPr>
          <p:cNvSpPr txBox="1"/>
          <p:nvPr/>
        </p:nvSpPr>
        <p:spPr>
          <a:xfrm>
            <a:off x="3024553" y="2875385"/>
            <a:ext cx="5873261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Question: </a:t>
            </a:r>
          </a:p>
          <a:p>
            <a:pPr algn="ctr"/>
            <a:r>
              <a:rPr lang="en-US" sz="2000" dirty="0"/>
              <a:t>Do TV Spots effect each attribution channel equally</a:t>
            </a:r>
          </a:p>
        </p:txBody>
      </p:sp>
    </p:spTree>
    <p:extLst>
      <p:ext uri="{BB962C8B-B14F-4D97-AF65-F5344CB8AC3E}">
        <p14:creationId xmlns:p14="http://schemas.microsoft.com/office/powerpoint/2010/main" val="181207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 animBg="1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382B34-FB02-4412-CE3B-FAF5708B8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184" y="2547790"/>
            <a:ext cx="11696176" cy="130401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3A0A53C-3B9B-9BC3-4C92-ABACCD768169}"/>
              </a:ext>
            </a:extLst>
          </p:cNvPr>
          <p:cNvSpPr/>
          <p:nvPr/>
        </p:nvSpPr>
        <p:spPr>
          <a:xfrm>
            <a:off x="6096000" y="2192216"/>
            <a:ext cx="5754815" cy="1955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81696-2217-9965-7229-A6922A4EF4B0}"/>
              </a:ext>
            </a:extLst>
          </p:cNvPr>
          <p:cNvSpPr/>
          <p:nvPr/>
        </p:nvSpPr>
        <p:spPr>
          <a:xfrm>
            <a:off x="9249508" y="1899139"/>
            <a:ext cx="2787852" cy="2248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B76412A-A3FE-5901-C264-A67E9311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65" y="1712"/>
            <a:ext cx="11682047" cy="1325563"/>
          </a:xfrm>
        </p:spPr>
        <p:txBody>
          <a:bodyPr/>
          <a:lstStyle/>
          <a:p>
            <a:r>
              <a:rPr lang="en-US" dirty="0"/>
              <a:t>Effect of TV Spots on Attribution Group Proportion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1FE9BD-4D6F-8EEC-37B8-14436A74CC89}"/>
              </a:ext>
            </a:extLst>
          </p:cNvPr>
          <p:cNvSpPr/>
          <p:nvPr/>
        </p:nvSpPr>
        <p:spPr>
          <a:xfrm>
            <a:off x="2215655" y="4419601"/>
            <a:ext cx="6975237" cy="103163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3F1C2-5F01-F942-491F-A165BCFA4C57}"/>
              </a:ext>
            </a:extLst>
          </p:cNvPr>
          <p:cNvSpPr txBox="1"/>
          <p:nvPr/>
        </p:nvSpPr>
        <p:spPr>
          <a:xfrm>
            <a:off x="2696302" y="4607168"/>
            <a:ext cx="597877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Insight 1</a:t>
            </a:r>
            <a:r>
              <a:rPr lang="en-US" sz="2000" dirty="0"/>
              <a:t>: Yes, TV Spot increases sales from the ‘No Direct Attribution’ group relatively more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FE93AA2-7386-465B-1D47-B06048EAC496}"/>
              </a:ext>
            </a:extLst>
          </p:cNvPr>
          <p:cNvSpPr/>
          <p:nvPr/>
        </p:nvSpPr>
        <p:spPr>
          <a:xfrm>
            <a:off x="2215655" y="5722870"/>
            <a:ext cx="6975237" cy="103163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02573F-B37F-2ED1-DEAC-454A90F6798E}"/>
              </a:ext>
            </a:extLst>
          </p:cNvPr>
          <p:cNvSpPr txBox="1"/>
          <p:nvPr/>
        </p:nvSpPr>
        <p:spPr>
          <a:xfrm>
            <a:off x="2579072" y="5910437"/>
            <a:ext cx="597877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Insight 2</a:t>
            </a:r>
            <a:r>
              <a:rPr lang="en-US" sz="2000" dirty="0"/>
              <a:t>: Differences are small, so they can probably be ignored for a </a:t>
            </a:r>
            <a:r>
              <a:rPr lang="en-US" sz="2000" i="1" dirty="0"/>
              <a:t>Baseline </a:t>
            </a:r>
            <a:r>
              <a:rPr lang="en-US" sz="2000" dirty="0"/>
              <a:t>estimate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0C755-278C-3512-756A-A81C0E01E364}"/>
              </a:ext>
            </a:extLst>
          </p:cNvPr>
          <p:cNvSpPr/>
          <p:nvPr/>
        </p:nvSpPr>
        <p:spPr>
          <a:xfrm>
            <a:off x="3692769" y="2426677"/>
            <a:ext cx="8053754" cy="1437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7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/>
      <p:bldP spid="19" grpId="0" animBg="1"/>
      <p:bldP spid="2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52E70-D755-CCFF-B379-F0284482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E374E6-4F6E-4E57-B67A-92AE17F6E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0164" y="1912111"/>
            <a:ext cx="4328980" cy="200215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0B13BBB-29DF-EF65-217F-E02755382997}"/>
              </a:ext>
            </a:extLst>
          </p:cNvPr>
          <p:cNvSpPr txBox="1">
            <a:spLocks/>
          </p:cNvSpPr>
          <p:nvPr/>
        </p:nvSpPr>
        <p:spPr>
          <a:xfrm>
            <a:off x="838200" y="17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Welch’s t-test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6A4DE6-8819-74C5-7A28-D10F0639DB65}"/>
              </a:ext>
            </a:extLst>
          </p:cNvPr>
          <p:cNvSpPr/>
          <p:nvPr/>
        </p:nvSpPr>
        <p:spPr>
          <a:xfrm>
            <a:off x="2039820" y="4297491"/>
            <a:ext cx="8030303" cy="1020467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2"/>
                </a:solidFill>
              </a:ln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6F5B9-5303-1029-F478-9433DE49D3A2}"/>
              </a:ext>
            </a:extLst>
          </p:cNvPr>
          <p:cNvSpPr txBox="1"/>
          <p:nvPr/>
        </p:nvSpPr>
        <p:spPr>
          <a:xfrm>
            <a:off x="2332897" y="4449892"/>
            <a:ext cx="9671535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Significant difference in daily sales depending on TV spot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Difference is ~15 sales per day</a:t>
            </a:r>
          </a:p>
        </p:txBody>
      </p:sp>
    </p:spTree>
    <p:extLst>
      <p:ext uri="{BB962C8B-B14F-4D97-AF65-F5344CB8AC3E}">
        <p14:creationId xmlns:p14="http://schemas.microsoft.com/office/powerpoint/2010/main" val="72154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83A16-A796-8864-C5DF-F45256455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2EDB-7E46-F460-5117-1662E20E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Daily Sales Colored by TV Spot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EC433-D872-B039-6F01-DBF1BC3D9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2" y="1584568"/>
            <a:ext cx="11301984" cy="406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C6F2179-B9DE-090A-BB9C-4C89D19BD5D0}"/>
              </a:ext>
            </a:extLst>
          </p:cNvPr>
          <p:cNvCxnSpPr>
            <a:cxnSpLocks/>
          </p:cNvCxnSpPr>
          <p:nvPr/>
        </p:nvCxnSpPr>
        <p:spPr>
          <a:xfrm flipV="1">
            <a:off x="1559169" y="4454769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834CD4-2CB6-52B6-3181-33A16E03431C}"/>
              </a:ext>
            </a:extLst>
          </p:cNvPr>
          <p:cNvCxnSpPr>
            <a:cxnSpLocks/>
          </p:cNvCxnSpPr>
          <p:nvPr/>
        </p:nvCxnSpPr>
        <p:spPr>
          <a:xfrm>
            <a:off x="1113692" y="4443046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AAC211-23D0-496A-7B9C-2ABFC26353E4}"/>
              </a:ext>
            </a:extLst>
          </p:cNvPr>
          <p:cNvCxnSpPr>
            <a:cxnSpLocks/>
          </p:cNvCxnSpPr>
          <p:nvPr/>
        </p:nvCxnSpPr>
        <p:spPr>
          <a:xfrm flipV="1">
            <a:off x="3024553" y="4466492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4139A4-6F5E-C303-1028-551CC745E20C}"/>
              </a:ext>
            </a:extLst>
          </p:cNvPr>
          <p:cNvCxnSpPr>
            <a:cxnSpLocks/>
          </p:cNvCxnSpPr>
          <p:nvPr/>
        </p:nvCxnSpPr>
        <p:spPr>
          <a:xfrm>
            <a:off x="2567353" y="4454769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1D3F90-DC96-04EC-A766-5006B030AE87}"/>
              </a:ext>
            </a:extLst>
          </p:cNvPr>
          <p:cNvCxnSpPr>
            <a:cxnSpLocks/>
          </p:cNvCxnSpPr>
          <p:nvPr/>
        </p:nvCxnSpPr>
        <p:spPr>
          <a:xfrm flipV="1">
            <a:off x="4700953" y="4478215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F00DE3-D253-74B4-D40F-8F5942D10C97}"/>
              </a:ext>
            </a:extLst>
          </p:cNvPr>
          <p:cNvCxnSpPr>
            <a:cxnSpLocks/>
          </p:cNvCxnSpPr>
          <p:nvPr/>
        </p:nvCxnSpPr>
        <p:spPr>
          <a:xfrm>
            <a:off x="4232030" y="4466492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145AC4-5289-B06D-898A-4AB77E60F423}"/>
              </a:ext>
            </a:extLst>
          </p:cNvPr>
          <p:cNvCxnSpPr>
            <a:cxnSpLocks/>
          </p:cNvCxnSpPr>
          <p:nvPr/>
        </p:nvCxnSpPr>
        <p:spPr>
          <a:xfrm flipV="1">
            <a:off x="8428891" y="4489938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4CB600-D1E0-8DBC-FEA8-8804798D80C6}"/>
              </a:ext>
            </a:extLst>
          </p:cNvPr>
          <p:cNvCxnSpPr>
            <a:cxnSpLocks/>
          </p:cNvCxnSpPr>
          <p:nvPr/>
        </p:nvCxnSpPr>
        <p:spPr>
          <a:xfrm>
            <a:off x="7971691" y="4478215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27F350-38F7-A22D-5DAC-BEC5582876A1}"/>
              </a:ext>
            </a:extLst>
          </p:cNvPr>
          <p:cNvCxnSpPr>
            <a:cxnSpLocks/>
          </p:cNvCxnSpPr>
          <p:nvPr/>
        </p:nvCxnSpPr>
        <p:spPr>
          <a:xfrm flipV="1">
            <a:off x="9671537" y="4466492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78DE7F-912A-373D-2BFE-14F790543DA1}"/>
              </a:ext>
            </a:extLst>
          </p:cNvPr>
          <p:cNvCxnSpPr>
            <a:cxnSpLocks/>
          </p:cNvCxnSpPr>
          <p:nvPr/>
        </p:nvCxnSpPr>
        <p:spPr>
          <a:xfrm>
            <a:off x="9226060" y="4454769"/>
            <a:ext cx="844063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3B4B3A-12C4-EB95-92A5-A21D12713776}"/>
              </a:ext>
            </a:extLst>
          </p:cNvPr>
          <p:cNvCxnSpPr>
            <a:cxnSpLocks/>
          </p:cNvCxnSpPr>
          <p:nvPr/>
        </p:nvCxnSpPr>
        <p:spPr>
          <a:xfrm flipV="1">
            <a:off x="10931769" y="4489938"/>
            <a:ext cx="0" cy="78544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429076-D696-1774-E8CE-5F2444F5C15C}"/>
              </a:ext>
            </a:extLst>
          </p:cNvPr>
          <p:cNvCxnSpPr>
            <a:cxnSpLocks/>
          </p:cNvCxnSpPr>
          <p:nvPr/>
        </p:nvCxnSpPr>
        <p:spPr>
          <a:xfrm>
            <a:off x="10474569" y="4478215"/>
            <a:ext cx="89095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2E4C10B-941F-FD8D-7AB5-A5759498C210}"/>
              </a:ext>
            </a:extLst>
          </p:cNvPr>
          <p:cNvSpPr/>
          <p:nvPr/>
        </p:nvSpPr>
        <p:spPr>
          <a:xfrm>
            <a:off x="2672865" y="1228825"/>
            <a:ext cx="6553200" cy="1638638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2"/>
                </a:solidFill>
              </a:ln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C3D852-CF92-BAB3-8573-DCA94F2D39E6}"/>
              </a:ext>
            </a:extLst>
          </p:cNvPr>
          <p:cNvSpPr txBox="1"/>
          <p:nvPr/>
        </p:nvSpPr>
        <p:spPr>
          <a:xfrm>
            <a:off x="1195762" y="1261212"/>
            <a:ext cx="9671535" cy="1785104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/>
              <a:t>TV Spot Baseline Attribution: </a:t>
            </a:r>
          </a:p>
          <a:p>
            <a:pPr algn="ctr">
              <a:lnSpc>
                <a:spcPct val="150000"/>
              </a:lnSpc>
            </a:pPr>
            <a:r>
              <a:rPr lang="en-US" sz="2000" dirty="0"/>
              <a:t>Flat Increase of ~15 sales per day during TV Spot</a:t>
            </a:r>
          </a:p>
          <a:p>
            <a:pPr algn="ctr">
              <a:lnSpc>
                <a:spcPct val="150000"/>
              </a:lnSpc>
            </a:pPr>
            <a:r>
              <a:rPr lang="en-US" sz="2000" dirty="0"/>
              <a:t>15.21 sales per day * 179 days = </a:t>
            </a:r>
            <a:r>
              <a:rPr lang="en-US" sz="2000" b="1" dirty="0"/>
              <a:t>2723 sales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1923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6FF37-A84A-6CF7-4545-063F3CC6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7F61-5887-4D07-7071-83D924BCD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Baseline Estimates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73F9D2-6D22-7EBB-89B8-AD44C663D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896904"/>
              </p:ext>
            </p:extLst>
          </p:nvPr>
        </p:nvGraphicFramePr>
        <p:xfrm>
          <a:off x="3755290" y="2051538"/>
          <a:ext cx="4368802" cy="211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1">
                  <a:extLst>
                    <a:ext uri="{9D8B030D-6E8A-4147-A177-3AD203B41FA5}">
                      <a16:colId xmlns:a16="http://schemas.microsoft.com/office/drawing/2014/main" val="72863029"/>
                    </a:ext>
                  </a:extLst>
                </a:gridCol>
                <a:gridCol w="2184401">
                  <a:extLst>
                    <a:ext uri="{9D8B030D-6E8A-4147-A177-3AD203B41FA5}">
                      <a16:colId xmlns:a16="http://schemas.microsoft.com/office/drawing/2014/main" val="803694691"/>
                    </a:ext>
                  </a:extLst>
                </a:gridCol>
              </a:tblGrid>
              <a:tr h="5297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781680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Digital Interaction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7207803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DM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Sendout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6718019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TV Spot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0182900"/>
                  </a:ext>
                </a:extLst>
              </a:tr>
            </a:tbl>
          </a:graphicData>
        </a:graphic>
      </p:graphicFrame>
      <p:sp>
        <p:nvSpPr>
          <p:cNvPr id="3" name="Arc 2">
            <a:extLst>
              <a:ext uri="{FF2B5EF4-FFF2-40B4-BE49-F238E27FC236}">
                <a16:creationId xmlns:a16="http://schemas.microsoft.com/office/drawing/2014/main" id="{7720A531-D8C5-BE15-39E7-53A78CA8548F}"/>
              </a:ext>
            </a:extLst>
          </p:cNvPr>
          <p:cNvSpPr/>
          <p:nvPr/>
        </p:nvSpPr>
        <p:spPr>
          <a:xfrm>
            <a:off x="7526215" y="2719754"/>
            <a:ext cx="762000" cy="709246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5D45038B-49EF-E612-BE1E-31DB5A76DC53}"/>
              </a:ext>
            </a:extLst>
          </p:cNvPr>
          <p:cNvSpPr/>
          <p:nvPr/>
        </p:nvSpPr>
        <p:spPr>
          <a:xfrm rot="5400000">
            <a:off x="7552592" y="2719754"/>
            <a:ext cx="762000" cy="709246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E3C973-9B1E-2B58-0DD7-2F3A0F9076F7}"/>
              </a:ext>
            </a:extLst>
          </p:cNvPr>
          <p:cNvCxnSpPr>
            <a:stCxn id="5" idx="0"/>
          </p:cNvCxnSpPr>
          <p:nvPr/>
        </p:nvCxnSpPr>
        <p:spPr>
          <a:xfrm>
            <a:off x="8288215" y="3074377"/>
            <a:ext cx="30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2FD999-8C55-5E4B-3C16-A0E5F5DF8DE2}"/>
              </a:ext>
            </a:extLst>
          </p:cNvPr>
          <p:cNvSpPr txBox="1"/>
          <p:nvPr/>
        </p:nvSpPr>
        <p:spPr>
          <a:xfrm>
            <a:off x="8593015" y="2889711"/>
            <a:ext cx="1582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3558 Shared</a:t>
            </a:r>
          </a:p>
        </p:txBody>
      </p:sp>
    </p:spTree>
    <p:extLst>
      <p:ext uri="{BB962C8B-B14F-4D97-AF65-F5344CB8AC3E}">
        <p14:creationId xmlns:p14="http://schemas.microsoft.com/office/powerpoint/2010/main" val="256471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EA4FB-96D2-9216-D100-D246EAF0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E579-2283-A2EE-F5DA-7CA546B3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Baseline Estimates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D428A0-398F-01D9-2976-5F0C45B39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053227"/>
              </p:ext>
            </p:extLst>
          </p:nvPr>
        </p:nvGraphicFramePr>
        <p:xfrm>
          <a:off x="490413" y="1528495"/>
          <a:ext cx="4368802" cy="211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1">
                  <a:extLst>
                    <a:ext uri="{9D8B030D-6E8A-4147-A177-3AD203B41FA5}">
                      <a16:colId xmlns:a16="http://schemas.microsoft.com/office/drawing/2014/main" val="72863029"/>
                    </a:ext>
                  </a:extLst>
                </a:gridCol>
                <a:gridCol w="2184401">
                  <a:extLst>
                    <a:ext uri="{9D8B030D-6E8A-4147-A177-3AD203B41FA5}">
                      <a16:colId xmlns:a16="http://schemas.microsoft.com/office/drawing/2014/main" val="803694691"/>
                    </a:ext>
                  </a:extLst>
                </a:gridCol>
              </a:tblGrid>
              <a:tr h="5297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781680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Digital Interaction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7207803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DM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Sendout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6718019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TV Spot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01829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50DE0EF-AD2A-5DF8-BB97-CE1E27E996F9}"/>
              </a:ext>
            </a:extLst>
          </p:cNvPr>
          <p:cNvSpPr/>
          <p:nvPr/>
        </p:nvSpPr>
        <p:spPr>
          <a:xfrm>
            <a:off x="316524" y="4852468"/>
            <a:ext cx="4954763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ysClr val="windowText" lastClr="000000"/>
                </a:solidFill>
              </a:rPr>
              <a:t>1916 (-15% to TV) sales not attributed directly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11263-F88A-1A6E-468C-FC5F2F37339D}"/>
              </a:ext>
            </a:extLst>
          </p:cNvPr>
          <p:cNvSpPr txBox="1"/>
          <p:nvPr/>
        </p:nvSpPr>
        <p:spPr>
          <a:xfrm>
            <a:off x="5779476" y="1249093"/>
            <a:ext cx="6330461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ysClr val="windowText" lastClr="000000"/>
                </a:solidFill>
              </a:rPr>
              <a:t>Overestimating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Double &amp; Triple attribution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DM </a:t>
            </a:r>
            <a:r>
              <a:rPr lang="en-US" sz="2000" dirty="0" err="1">
                <a:solidFill>
                  <a:sysClr val="windowText" lastClr="000000"/>
                </a:solidFill>
              </a:rPr>
              <a:t>Sendout</a:t>
            </a:r>
            <a:r>
              <a:rPr lang="en-US" sz="2000" dirty="0">
                <a:solidFill>
                  <a:sysClr val="windowText" lastClr="000000"/>
                </a:solidFill>
              </a:rPr>
              <a:t> &amp; Digital Interaction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TV Spot &amp; DM </a:t>
            </a:r>
            <a:r>
              <a:rPr lang="en-US" sz="2000" dirty="0" err="1">
                <a:solidFill>
                  <a:sysClr val="windowText" lastClr="000000"/>
                </a:solidFill>
              </a:rPr>
              <a:t>Sendout</a:t>
            </a:r>
            <a:r>
              <a:rPr lang="en-US" sz="2000" dirty="0">
                <a:solidFill>
                  <a:sysClr val="windowText" lastClr="000000"/>
                </a:solidFill>
              </a:rPr>
              <a:t> &amp; Digital Interaction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Not removing old </a:t>
            </a:r>
            <a:r>
              <a:rPr lang="en-US" sz="2000" dirty="0" err="1">
                <a:solidFill>
                  <a:sysClr val="windowText" lastClr="000000"/>
                </a:solidFill>
              </a:rPr>
              <a:t>Sendouts</a:t>
            </a:r>
            <a:endParaRPr lang="en-US" sz="200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300DF-9B24-6184-BE41-68877C3837AB}"/>
              </a:ext>
            </a:extLst>
          </p:cNvPr>
          <p:cNvSpPr txBox="1"/>
          <p:nvPr/>
        </p:nvSpPr>
        <p:spPr>
          <a:xfrm>
            <a:off x="5779476" y="3360080"/>
            <a:ext cx="6096000" cy="2817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ysClr val="windowText" lastClr="000000"/>
                </a:solidFill>
              </a:rPr>
              <a:t>Underestimating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Removing digital Interactions older than 7 days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Not assigning the ‘</a:t>
            </a:r>
            <a:r>
              <a:rPr lang="en-US" sz="2000" i="1" dirty="0">
                <a:solidFill>
                  <a:sysClr val="windowText" lastClr="000000"/>
                </a:solidFill>
              </a:rPr>
              <a:t>No Direct Interaction Sales</a:t>
            </a:r>
            <a:r>
              <a:rPr lang="en-US" sz="2000" dirty="0">
                <a:solidFill>
                  <a:sysClr val="windowText" lastClr="000000"/>
                </a:solidFill>
              </a:rPr>
              <a:t>’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Interactions – could underestimate or overestimate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05D6DA-6596-70CE-E237-4280367C1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66829"/>
              </p:ext>
            </p:extLst>
          </p:nvPr>
        </p:nvGraphicFramePr>
        <p:xfrm>
          <a:off x="461305" y="4030504"/>
          <a:ext cx="4368802" cy="7924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184401">
                  <a:extLst>
                    <a:ext uri="{9D8B030D-6E8A-4147-A177-3AD203B41FA5}">
                      <a16:colId xmlns:a16="http://schemas.microsoft.com/office/drawing/2014/main" val="674796779"/>
                    </a:ext>
                  </a:extLst>
                </a:gridCol>
                <a:gridCol w="2184401">
                  <a:extLst>
                    <a:ext uri="{9D8B030D-6E8A-4147-A177-3AD203B41FA5}">
                      <a16:colId xmlns:a16="http://schemas.microsoft.com/office/drawing/2014/main" val="710463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Attributed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10843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66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Actual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9919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023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44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9EF1A-F522-F4C9-E31F-4D0F118E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9F55-FCC8-9060-2952-4CEBB6505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608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Exploration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A/B Variants</a:t>
            </a:r>
          </a:p>
        </p:txBody>
      </p:sp>
    </p:spTree>
    <p:extLst>
      <p:ext uri="{BB962C8B-B14F-4D97-AF65-F5344CB8AC3E}">
        <p14:creationId xmlns:p14="http://schemas.microsoft.com/office/powerpoint/2010/main" val="3750580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F7906-0CBF-CE92-2C49-745A41B9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F3A9-6728-17E5-B1E5-169A2AF7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Difference in A &amp; B Variants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7B823B-D3CA-C6FE-A48F-462167B5F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9193" y="1136306"/>
            <a:ext cx="6434679" cy="55249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6083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72889-3DC1-16C5-219E-91FC1D7A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4C74-7704-1E59-0B27-2BAAD70E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6048"/>
            <a:ext cx="10515600" cy="1325563"/>
          </a:xfrm>
        </p:spPr>
        <p:txBody>
          <a:bodyPr/>
          <a:lstStyle/>
          <a:p>
            <a:r>
              <a:rPr lang="en-US" dirty="0"/>
              <a:t>Difference in A &amp; B Variants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02A1C-DD9F-6D6C-46BE-2E4C83EE3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3855" y="1113692"/>
            <a:ext cx="7860324" cy="5240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6931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85D64-77F7-D3F4-46E2-748C5019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5132-1A61-B1EE-513A-CB0E6C52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Difference in A &amp; B Variants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7BA7D-E558-D271-2513-CCF38C120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039" y="1101969"/>
            <a:ext cx="8106327" cy="5404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4A5F6F-0758-C944-ED39-836A5C48D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06280"/>
              </p:ext>
            </p:extLst>
          </p:nvPr>
        </p:nvGraphicFramePr>
        <p:xfrm>
          <a:off x="8862646" y="1512277"/>
          <a:ext cx="3032368" cy="4444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6184">
                  <a:extLst>
                    <a:ext uri="{9D8B030D-6E8A-4147-A177-3AD203B41FA5}">
                      <a16:colId xmlns:a16="http://schemas.microsoft.com/office/drawing/2014/main" val="1020625020"/>
                    </a:ext>
                  </a:extLst>
                </a:gridCol>
                <a:gridCol w="1516184">
                  <a:extLst>
                    <a:ext uri="{9D8B030D-6E8A-4147-A177-3AD203B41FA5}">
                      <a16:colId xmlns:a16="http://schemas.microsoft.com/office/drawing/2014/main" val="1524814310"/>
                    </a:ext>
                  </a:extLst>
                </a:gridCol>
              </a:tblGrid>
              <a:tr h="2623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DM </a:t>
                      </a: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Sendout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Date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Days Between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4967285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1/7/2025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8595601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2/4/2025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3438139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1220883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4/1/2025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934802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5/6/2025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3214125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6/3/2025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7032582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7/1/2025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2102174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8/5/2025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8070852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9/2/2025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1595117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10/7/2025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1843834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11/4/2025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453749"/>
                  </a:ext>
                </a:extLst>
              </a:tr>
              <a:tr h="3485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12/2/2025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069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964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69653-A27B-6F13-8A59-4D45DFE8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B534-A1F9-0D17-F182-FE4F58CDD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Difference in A &amp; B Variants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51BD7-9631-558F-A302-714E17A89E6F}"/>
              </a:ext>
            </a:extLst>
          </p:cNvPr>
          <p:cNvSpPr txBox="1"/>
          <p:nvPr/>
        </p:nvSpPr>
        <p:spPr>
          <a:xfrm>
            <a:off x="1043353" y="2005367"/>
            <a:ext cx="10023231" cy="1969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Conclusions: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Slightly different response rate, not large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Response rate over time almost the same</a:t>
            </a:r>
          </a:p>
        </p:txBody>
      </p:sp>
      <p:pic>
        <p:nvPicPr>
          <p:cNvPr id="7" name="Picture 6" descr="Idea ">
            <a:extLst>
              <a:ext uri="{FF2B5EF4-FFF2-40B4-BE49-F238E27FC236}">
                <a16:creationId xmlns:a16="http://schemas.microsoft.com/office/drawing/2014/main" id="{F2F939C4-1E49-E75A-BFEB-453265F5D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72" y="2113652"/>
            <a:ext cx="476328" cy="4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11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71D97-D593-1F62-BABD-25577A5E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F6C9E-5C7D-731E-230C-C14399504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74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Exploration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Seasonality</a:t>
            </a:r>
          </a:p>
        </p:txBody>
      </p:sp>
    </p:spTree>
    <p:extLst>
      <p:ext uri="{BB962C8B-B14F-4D97-AF65-F5344CB8AC3E}">
        <p14:creationId xmlns:p14="http://schemas.microsoft.com/office/powerpoint/2010/main" val="1886860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58727-19B1-F40B-F8C5-F98EA277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7579-2449-1671-33B4-E901143B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287827"/>
          </a:xfrm>
        </p:spPr>
        <p:txBody>
          <a:bodyPr anchor="t"/>
          <a:lstStyle/>
          <a:p>
            <a:r>
              <a:rPr lang="en-US" dirty="0"/>
              <a:t>2025 Sales by 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83604-7758-0EF2-1164-776CEB10A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946" y="2304932"/>
            <a:ext cx="11301984" cy="37252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EF477B-4E49-FD9E-6C3A-313A3EE4CAAE}"/>
              </a:ext>
            </a:extLst>
          </p:cNvPr>
          <p:cNvSpPr txBox="1"/>
          <p:nvPr/>
        </p:nvSpPr>
        <p:spPr>
          <a:xfrm>
            <a:off x="838200" y="96621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- Colored by TV Spot</a:t>
            </a:r>
            <a:br>
              <a:rPr lang="en-US" sz="2800" dirty="0"/>
            </a:br>
            <a:r>
              <a:rPr lang="en-US" sz="2800" dirty="0"/>
              <a:t>- Vertical lines showing DM </a:t>
            </a:r>
            <a:r>
              <a:rPr lang="en-US" sz="2800" dirty="0" err="1"/>
              <a:t>Sendouts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19119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A531C-5E3F-53B8-DE6A-0F561B98F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9213-184E-9628-064E-A449848B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287827"/>
          </a:xfrm>
        </p:spPr>
        <p:txBody>
          <a:bodyPr anchor="t"/>
          <a:lstStyle/>
          <a:p>
            <a:r>
              <a:rPr lang="en-US" dirty="0"/>
              <a:t>2025 Sales by Day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17036-B5A8-02FA-FF34-10DD244D9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92352"/>
            <a:ext cx="10393680" cy="51968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5160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D91D7-81F3-003F-FEF7-DA92F823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DEBD-E18B-18D3-A713-C7FB812C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22" y="142388"/>
            <a:ext cx="10802815" cy="1287827"/>
          </a:xfrm>
        </p:spPr>
        <p:txBody>
          <a:bodyPr anchor="t">
            <a:normAutofit/>
          </a:bodyPr>
          <a:lstStyle/>
          <a:p>
            <a:r>
              <a:rPr lang="en-US" dirty="0"/>
              <a:t>Digital Interactions Channels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308955-7EC0-07D6-0BA6-E492B4DC32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365" y="1711569"/>
            <a:ext cx="11734449" cy="39114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7360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F99C6-B5C1-81CA-EF05-C1E94EF7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Insights from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A3F1-9575-DE97-A20B-9EBBA3CD6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Conclusions:</a:t>
            </a:r>
          </a:p>
          <a:p>
            <a:pPr>
              <a:lnSpc>
                <a:spcPct val="150000"/>
              </a:lnSpc>
            </a:pPr>
            <a:r>
              <a:rPr lang="en-US" dirty="0"/>
              <a:t>Big seasons for sales and advertising in September &amp; October</a:t>
            </a:r>
          </a:p>
          <a:p>
            <a:pPr>
              <a:lnSpc>
                <a:spcPct val="150000"/>
              </a:lnSpc>
            </a:pPr>
            <a:r>
              <a:rPr lang="en-US" dirty="0"/>
              <a:t>Low seasons for sales and advertising in May - August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 descr="Idea ">
            <a:extLst>
              <a:ext uri="{FF2B5EF4-FFF2-40B4-BE49-F238E27FC236}">
                <a16:creationId xmlns:a16="http://schemas.microsoft.com/office/drawing/2014/main" id="{C2ACE6D9-508E-2E72-3DF9-D32953085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20" y="1969271"/>
            <a:ext cx="476328" cy="47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48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A77B0-CAB5-9E82-CE2D-A3F713E1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F6774-CCC7-DC02-A51F-DE670B10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AI Usage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E46BF-2437-CDDD-7A55-C0C28A8A8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5" y="1151857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Explain the data</a:t>
            </a:r>
          </a:p>
          <a:p>
            <a:pPr lvl="1"/>
            <a:r>
              <a:rPr lang="en-US" sz="2000" dirty="0"/>
              <a:t>Verbally</a:t>
            </a:r>
          </a:p>
          <a:p>
            <a:pPr lvl="1"/>
            <a:r>
              <a:rPr lang="en-US" sz="2000" dirty="0"/>
              <a:t>Image of </a:t>
            </a:r>
            <a:r>
              <a:rPr lang="en-US" sz="2000" dirty="0" err="1"/>
              <a:t>dataframe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Ask for code charts</a:t>
            </a:r>
          </a:p>
          <a:p>
            <a:pPr lvl="1"/>
            <a:r>
              <a:rPr lang="en-US" sz="2000" dirty="0"/>
              <a:t> 	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Ask for code statistical tests</a:t>
            </a:r>
          </a:p>
          <a:p>
            <a:pPr lvl="1"/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2985D0-0ECA-CA80-82BC-7A6AB49AA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987" y="4992486"/>
            <a:ext cx="6125430" cy="1076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F6AB8B-16FA-09C9-62B8-0BC5A89C1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040" y="2743104"/>
            <a:ext cx="6106377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01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90D4A-B5E5-4D3E-118E-445E6542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9640-9FCC-18FD-1A5B-2B043C404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74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Exploration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DM </a:t>
            </a:r>
            <a:r>
              <a:rPr lang="en-US" dirty="0" err="1"/>
              <a:t>Sendout</a:t>
            </a:r>
            <a:r>
              <a:rPr lang="en-US" dirty="0"/>
              <a:t> Response Time</a:t>
            </a:r>
          </a:p>
        </p:txBody>
      </p:sp>
    </p:spTree>
    <p:extLst>
      <p:ext uri="{BB962C8B-B14F-4D97-AF65-F5344CB8AC3E}">
        <p14:creationId xmlns:p14="http://schemas.microsoft.com/office/powerpoint/2010/main" val="2267028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CBE0C-0C6B-77F4-3CAC-FDACD9A9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D5600-5859-6050-189B-AB588BB8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287827"/>
          </a:xfrm>
        </p:spPr>
        <p:txBody>
          <a:bodyPr anchor="t"/>
          <a:lstStyle/>
          <a:p>
            <a:r>
              <a:rPr lang="en-US" dirty="0"/>
              <a:t>2025 Sales by 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8F2574-A66A-E93B-750E-81231A09BD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946" y="2304932"/>
            <a:ext cx="11301984" cy="37252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12DDD6-514B-A949-726E-12CB45CF94D1}"/>
              </a:ext>
            </a:extLst>
          </p:cNvPr>
          <p:cNvSpPr txBox="1"/>
          <p:nvPr/>
        </p:nvSpPr>
        <p:spPr>
          <a:xfrm>
            <a:off x="838200" y="96621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- Colored by TV Spot</a:t>
            </a:r>
            <a:br>
              <a:rPr lang="en-US" sz="2800" dirty="0"/>
            </a:br>
            <a:r>
              <a:rPr lang="en-US" sz="2800" dirty="0"/>
              <a:t>- Vertical lines showing DM </a:t>
            </a:r>
            <a:r>
              <a:rPr lang="en-US" sz="2800" dirty="0" err="1"/>
              <a:t>Sendouts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2885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B9D26-1279-F328-F3EE-423659AB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C892A-BCA6-BB7C-F8F8-CEC0447A1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8393" y="1353999"/>
            <a:ext cx="8371390" cy="50228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A73C2A1-6170-DAB7-7D06-71CEA3A11D93}"/>
              </a:ext>
            </a:extLst>
          </p:cNvPr>
          <p:cNvSpPr txBox="1">
            <a:spLocks/>
          </p:cNvSpPr>
          <p:nvPr/>
        </p:nvSpPr>
        <p:spPr>
          <a:xfrm>
            <a:off x="838200" y="17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Daily Sales after </a:t>
            </a:r>
            <a:r>
              <a:rPr lang="en-US" dirty="0" err="1"/>
              <a:t>Sendout</a:t>
            </a:r>
            <a:r>
              <a:rPr lang="en-US" dirty="0"/>
              <a:t> by Attribution Case</a:t>
            </a:r>
          </a:p>
        </p:txBody>
      </p:sp>
    </p:spTree>
    <p:extLst>
      <p:ext uri="{BB962C8B-B14F-4D97-AF65-F5344CB8AC3E}">
        <p14:creationId xmlns:p14="http://schemas.microsoft.com/office/powerpoint/2010/main" val="4107257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6057C-5485-502A-DDC4-23A2632C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BD5C2-11FB-7538-3E6D-F584F2B13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222" y="1934305"/>
            <a:ext cx="11848120" cy="44430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495A90A-456C-F5E8-5091-536AB838167E}"/>
              </a:ext>
            </a:extLst>
          </p:cNvPr>
          <p:cNvSpPr txBox="1">
            <a:spLocks/>
          </p:cNvSpPr>
          <p:nvPr/>
        </p:nvSpPr>
        <p:spPr>
          <a:xfrm>
            <a:off x="838200" y="17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Daily Sales after </a:t>
            </a:r>
            <a:r>
              <a:rPr lang="en-US" dirty="0" err="1"/>
              <a:t>Sendout</a:t>
            </a:r>
            <a:r>
              <a:rPr lang="en-US" dirty="0"/>
              <a:t> by Attribution Case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4891F-56D5-2C7B-BC60-90DE920284A7}"/>
              </a:ext>
            </a:extLst>
          </p:cNvPr>
          <p:cNvSpPr txBox="1"/>
          <p:nvPr/>
        </p:nvSpPr>
        <p:spPr>
          <a:xfrm>
            <a:off x="949570" y="110757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- Split by TV Spot active or not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81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2EBCB-5D64-FEF5-E634-A8D3A10F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FC50-CE53-207B-F10A-3EB94CE9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Insights from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6F19-95C6-D521-EF74-969680506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Conclusions:</a:t>
            </a:r>
          </a:p>
          <a:p>
            <a:r>
              <a:rPr lang="en-US" dirty="0"/>
              <a:t>The uplift pattern after a direct mail </a:t>
            </a:r>
            <a:r>
              <a:rPr lang="en-US" dirty="0" err="1"/>
              <a:t>sendout</a:t>
            </a:r>
            <a:r>
              <a:rPr lang="en-US" dirty="0"/>
              <a:t> of the ‘</a:t>
            </a:r>
            <a:r>
              <a:rPr lang="en-US" i="1" dirty="0" err="1"/>
              <a:t>Sendout</a:t>
            </a:r>
            <a:r>
              <a:rPr lang="en-US" i="1" dirty="0"/>
              <a:t> Only</a:t>
            </a:r>
            <a:r>
              <a:rPr lang="en-US" dirty="0"/>
              <a:t>’ attribution case is mirrored in the ‘</a:t>
            </a:r>
            <a:r>
              <a:rPr lang="en-US" i="1" dirty="0"/>
              <a:t>Both</a:t>
            </a:r>
            <a:r>
              <a:rPr lang="en-US" dirty="0"/>
              <a:t>’ attribution case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816443-A9F6-E57F-F86A-5F9F32E623CF}"/>
              </a:ext>
            </a:extLst>
          </p:cNvPr>
          <p:cNvSpPr txBox="1"/>
          <p:nvPr/>
        </p:nvSpPr>
        <p:spPr>
          <a:xfrm>
            <a:off x="838200" y="3761114"/>
            <a:ext cx="100232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Key Insight</a:t>
            </a:r>
            <a:r>
              <a:rPr lang="en-US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Early after a direct mail </a:t>
            </a:r>
            <a:r>
              <a:rPr lang="en-US" sz="2800" dirty="0" err="1"/>
              <a:t>sendout</a:t>
            </a:r>
            <a:r>
              <a:rPr lang="en-US" sz="2800" dirty="0"/>
              <a:t>, the ‘</a:t>
            </a:r>
            <a:r>
              <a:rPr lang="en-US" sz="2800" i="1" dirty="0"/>
              <a:t>Both</a:t>
            </a:r>
            <a:r>
              <a:rPr lang="en-US" sz="2800" dirty="0"/>
              <a:t>’ attribution shows the same uptick as ‘</a:t>
            </a:r>
            <a:r>
              <a:rPr lang="en-US" sz="2800" i="1" dirty="0" err="1"/>
              <a:t>Sendout</a:t>
            </a:r>
            <a:r>
              <a:rPr lang="en-US" sz="2800" i="1" dirty="0"/>
              <a:t> Only</a:t>
            </a:r>
            <a:r>
              <a:rPr lang="en-US" sz="2800" dirty="0"/>
              <a:t>’. Thus, the attribution should be shifted a bit toward ‘</a:t>
            </a:r>
            <a:r>
              <a:rPr lang="en-US" sz="2800" i="1" dirty="0" err="1"/>
              <a:t>Sendout</a:t>
            </a:r>
            <a:r>
              <a:rPr lang="en-US" sz="2800" i="1" dirty="0"/>
              <a:t> Only</a:t>
            </a:r>
            <a:r>
              <a:rPr lang="en-US" sz="2800" dirty="0"/>
              <a:t>’</a:t>
            </a: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7" name="Picture 6" descr="Idea ">
            <a:extLst>
              <a:ext uri="{FF2B5EF4-FFF2-40B4-BE49-F238E27FC236}">
                <a16:creationId xmlns:a16="http://schemas.microsoft.com/office/drawing/2014/main" id="{1795F8CF-9F64-1ECF-5ED9-3CE5E711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72" y="1812861"/>
            <a:ext cx="476328" cy="476328"/>
          </a:xfrm>
          <a:prstGeom prst="rect">
            <a:avLst/>
          </a:prstGeom>
        </p:spPr>
      </p:pic>
      <p:pic>
        <p:nvPicPr>
          <p:cNvPr id="6" name="Picture 5" descr="Door key ">
            <a:extLst>
              <a:ext uri="{FF2B5EF4-FFF2-40B4-BE49-F238E27FC236}">
                <a16:creationId xmlns:a16="http://schemas.microsoft.com/office/drawing/2014/main" id="{44DF7FEB-F2E6-D2B4-7B0C-6108E00AE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04" y="3869402"/>
            <a:ext cx="394265" cy="39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2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4F8E2-C431-E35E-8C00-5116D46A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C5C3B-8F4E-62ED-BC5A-DFA0C2A3D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76"/>
            <a:ext cx="9144000" cy="360203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r>
              <a:rPr lang="en-US" dirty="0"/>
              <a:t>Part 2:</a:t>
            </a:r>
            <a:br>
              <a:rPr lang="en-US" dirty="0"/>
            </a:br>
            <a:r>
              <a:rPr lang="en-US" b="1" dirty="0"/>
              <a:t>Stakeholder Perspective</a:t>
            </a:r>
          </a:p>
        </p:txBody>
      </p:sp>
    </p:spTree>
    <p:extLst>
      <p:ext uri="{BB962C8B-B14F-4D97-AF65-F5344CB8AC3E}">
        <p14:creationId xmlns:p14="http://schemas.microsoft.com/office/powerpoint/2010/main" val="2212392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2B8F5-2DBC-692B-C010-88C84187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432F-5BF8-05E1-5471-85771574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2025 Sales Baselines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5EB4F9-5F61-9947-AD36-1B96F41AC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96661"/>
              </p:ext>
            </p:extLst>
          </p:nvPr>
        </p:nvGraphicFramePr>
        <p:xfrm>
          <a:off x="3481755" y="3538180"/>
          <a:ext cx="4015146" cy="1983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573">
                  <a:extLst>
                    <a:ext uri="{9D8B030D-6E8A-4147-A177-3AD203B41FA5}">
                      <a16:colId xmlns:a16="http://schemas.microsoft.com/office/drawing/2014/main" val="72863029"/>
                    </a:ext>
                  </a:extLst>
                </a:gridCol>
                <a:gridCol w="2007573">
                  <a:extLst>
                    <a:ext uri="{9D8B030D-6E8A-4147-A177-3AD203B41FA5}">
                      <a16:colId xmlns:a16="http://schemas.microsoft.com/office/drawing/2014/main" val="803694691"/>
                    </a:ext>
                  </a:extLst>
                </a:gridCol>
              </a:tblGrid>
              <a:tr h="49584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781680"/>
                  </a:ext>
                </a:extLst>
              </a:tr>
              <a:tr h="49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Digital Interaction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7207803"/>
                  </a:ext>
                </a:extLst>
              </a:tr>
              <a:tr h="49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DM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Sendout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6718019"/>
                  </a:ext>
                </a:extLst>
              </a:tr>
              <a:tr h="49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TV Spot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0182900"/>
                  </a:ext>
                </a:extLst>
              </a:tr>
            </a:tbl>
          </a:graphicData>
        </a:graphic>
      </p:graphicFrame>
      <p:sp>
        <p:nvSpPr>
          <p:cNvPr id="6" name="Arc 5">
            <a:extLst>
              <a:ext uri="{FF2B5EF4-FFF2-40B4-BE49-F238E27FC236}">
                <a16:creationId xmlns:a16="http://schemas.microsoft.com/office/drawing/2014/main" id="{DB68C094-1D9C-C021-72F3-42CB2BC16676}"/>
              </a:ext>
            </a:extLst>
          </p:cNvPr>
          <p:cNvSpPr/>
          <p:nvPr/>
        </p:nvSpPr>
        <p:spPr>
          <a:xfrm>
            <a:off x="6823160" y="4315777"/>
            <a:ext cx="474594" cy="59998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F2E99F0-744F-15F2-8F85-6873E4BA4AD2}"/>
              </a:ext>
            </a:extLst>
          </p:cNvPr>
          <p:cNvSpPr/>
          <p:nvPr/>
        </p:nvSpPr>
        <p:spPr>
          <a:xfrm rot="5400000">
            <a:off x="6760295" y="4392531"/>
            <a:ext cx="644612" cy="44173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AAE204-7D66-ECB9-1E8A-51173D638B92}"/>
              </a:ext>
            </a:extLst>
          </p:cNvPr>
          <p:cNvCxnSpPr>
            <a:cxnSpLocks/>
            <a:stCxn id="7" idx="0"/>
          </p:cNvCxnSpPr>
          <p:nvPr/>
        </p:nvCxnSpPr>
        <p:spPr>
          <a:xfrm>
            <a:off x="7303470" y="4613400"/>
            <a:ext cx="2982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673254-53AF-34C8-2447-E24737B88CED}"/>
              </a:ext>
            </a:extLst>
          </p:cNvPr>
          <p:cNvSpPr txBox="1"/>
          <p:nvPr/>
        </p:nvSpPr>
        <p:spPr>
          <a:xfrm>
            <a:off x="7601741" y="4333494"/>
            <a:ext cx="985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3558 Shared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8E799F2-56E1-36C9-37E4-7063E8615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247523"/>
              </p:ext>
            </p:extLst>
          </p:nvPr>
        </p:nvGraphicFramePr>
        <p:xfrm>
          <a:off x="3481755" y="1762408"/>
          <a:ext cx="4015146" cy="7924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379783">
                  <a:extLst>
                    <a:ext uri="{9D8B030D-6E8A-4147-A177-3AD203B41FA5}">
                      <a16:colId xmlns:a16="http://schemas.microsoft.com/office/drawing/2014/main" val="674796779"/>
                    </a:ext>
                  </a:extLst>
                </a:gridCol>
                <a:gridCol w="1635363">
                  <a:extLst>
                    <a:ext uri="{9D8B030D-6E8A-4147-A177-3AD203B41FA5}">
                      <a16:colId xmlns:a16="http://schemas.microsoft.com/office/drawing/2014/main" val="710463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2025 Actual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9919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66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Attributed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10843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023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85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3DB95-59DF-9690-68A8-E162944D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B7090434-26F2-EB32-D841-3D817BC0D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0538" y="2806804"/>
            <a:ext cx="5638237" cy="37670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0A9FD4-A23E-D500-ED4E-E613634BE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Deep Dive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FCC8A-F367-8DAC-D3E5-45084F619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923" y="1415320"/>
            <a:ext cx="10849708" cy="1486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Key Insight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Early after a direct mail </a:t>
            </a:r>
            <a:r>
              <a:rPr lang="en-US" sz="2400" dirty="0" err="1"/>
              <a:t>sendout</a:t>
            </a:r>
            <a:r>
              <a:rPr lang="en-US" sz="2400" dirty="0"/>
              <a:t>, the ‘</a:t>
            </a:r>
            <a:r>
              <a:rPr lang="en-US" sz="2400" i="1" dirty="0"/>
              <a:t>Both</a:t>
            </a:r>
            <a:r>
              <a:rPr lang="en-US" sz="2400" dirty="0"/>
              <a:t>’ attribution shows the same uptick as ‘</a:t>
            </a:r>
            <a:r>
              <a:rPr lang="en-US" sz="2400" i="1" dirty="0" err="1"/>
              <a:t>Sendout</a:t>
            </a:r>
            <a:r>
              <a:rPr lang="en-US" sz="2400" i="1" dirty="0"/>
              <a:t> Only</a:t>
            </a:r>
            <a:r>
              <a:rPr lang="en-US" sz="2400" dirty="0"/>
              <a:t>’. Thus, the attribution should be shifted a bit toward ‘</a:t>
            </a:r>
            <a:r>
              <a:rPr lang="en-US" sz="2400" i="1" dirty="0" err="1"/>
              <a:t>Sendout</a:t>
            </a:r>
            <a:r>
              <a:rPr lang="en-US" sz="2400" i="1" dirty="0"/>
              <a:t> Only</a:t>
            </a:r>
            <a:r>
              <a:rPr lang="en-US" sz="2400" dirty="0"/>
              <a:t>’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3" name="Picture 12" descr="Double tap ">
            <a:extLst>
              <a:ext uri="{FF2B5EF4-FFF2-40B4-BE49-F238E27FC236}">
                <a16:creationId xmlns:a16="http://schemas.microsoft.com/office/drawing/2014/main" id="{946558FD-4606-C647-16B1-06F37E4BA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91" y="3681044"/>
            <a:ext cx="521372" cy="521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09C3A5-1759-8B9D-9684-97E74F060E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6523" y="1497664"/>
            <a:ext cx="396418" cy="3903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0FE0DBD-80FF-619D-21F5-5E5A359D0DA5}"/>
              </a:ext>
            </a:extLst>
          </p:cNvPr>
          <p:cNvSpPr txBox="1"/>
          <p:nvPr/>
        </p:nvSpPr>
        <p:spPr>
          <a:xfrm>
            <a:off x="844062" y="3533273"/>
            <a:ext cx="10215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Application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Reduce the overestimation of Digital Interaction, (particularly when also attributed to </a:t>
            </a:r>
            <a:r>
              <a:rPr lang="en-US" sz="2400" dirty="0" err="1"/>
              <a:t>Sendout</a:t>
            </a:r>
            <a:r>
              <a:rPr lang="en-US" sz="2400" dirty="0"/>
              <a:t>) by attributing some of these sales to ‘</a:t>
            </a:r>
            <a:r>
              <a:rPr lang="en-US" sz="2400" i="1" dirty="0" err="1"/>
              <a:t>Sendout</a:t>
            </a:r>
            <a:r>
              <a:rPr lang="en-US" sz="2400" i="1" dirty="0"/>
              <a:t> Only</a:t>
            </a:r>
            <a:r>
              <a:rPr lang="en-US" sz="2400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6663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F0AC1-0B28-D48D-A1B1-CDD62B784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878C-957A-E141-C2EF-CACBACD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Model Design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353946C-7F44-C468-3269-4255052C0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70" y="1309812"/>
            <a:ext cx="11154508" cy="513787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Find a baseline for ‘</a:t>
            </a:r>
            <a:r>
              <a:rPr lang="en-US" i="1" dirty="0"/>
              <a:t>Both</a:t>
            </a:r>
            <a:r>
              <a:rPr lang="en-US" dirty="0"/>
              <a:t>’ sales where effect of </a:t>
            </a:r>
            <a:r>
              <a:rPr lang="en-US" dirty="0" err="1"/>
              <a:t>sendout</a:t>
            </a:r>
            <a:r>
              <a:rPr lang="en-US" dirty="0"/>
              <a:t> is minimum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that baseline as a threshold for sales attribution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Any sales above that threshold counted as ‘</a:t>
            </a:r>
            <a:r>
              <a:rPr lang="en-US" i="1" dirty="0" err="1"/>
              <a:t>Sendout</a:t>
            </a:r>
            <a:r>
              <a:rPr lang="en-US" i="1" dirty="0"/>
              <a:t> Only</a:t>
            </a:r>
            <a:r>
              <a:rPr lang="en-US" dirty="0"/>
              <a:t>’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Any sales below that continue to be counted as ‘</a:t>
            </a:r>
            <a:r>
              <a:rPr lang="en-US" i="1" dirty="0"/>
              <a:t>Both</a:t>
            </a:r>
            <a:r>
              <a:rPr lang="en-US" dirty="0"/>
              <a:t>’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Calculate baseline independently for different seasons to address seasonal effects confounded by advertising swells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Use 3 seasons</a:t>
            </a:r>
            <a:r>
              <a:rPr lang="en-US" dirty="0"/>
              <a:t>: September &amp; October, May-August, Other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79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25BF6-9EF1-C05E-30E0-DCCF268F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5F8B-E504-012B-34AC-9B4373D9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Model 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3648AF-60FC-076B-1B86-1D762A1D4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7968" y="1034490"/>
            <a:ext cx="9421368" cy="5652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2BF2CFC-0B0A-EDB0-4826-619BDBADBC49}"/>
              </a:ext>
            </a:extLst>
          </p:cNvPr>
          <p:cNvSpPr/>
          <p:nvPr/>
        </p:nvSpPr>
        <p:spPr>
          <a:xfrm>
            <a:off x="3669323" y="4994030"/>
            <a:ext cx="187569" cy="19929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2D28DA3-4FE2-091D-763C-ADE81E7C3B13}"/>
              </a:ext>
            </a:extLst>
          </p:cNvPr>
          <p:cNvCxnSpPr/>
          <p:nvPr/>
        </p:nvCxnSpPr>
        <p:spPr>
          <a:xfrm flipH="1">
            <a:off x="3856892" y="4607169"/>
            <a:ext cx="257908" cy="3868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82B284-ACF9-317E-D1C9-968B8A763BD8}"/>
              </a:ext>
            </a:extLst>
          </p:cNvPr>
          <p:cNvSpPr txBox="1"/>
          <p:nvPr/>
        </p:nvSpPr>
        <p:spPr>
          <a:xfrm>
            <a:off x="4032738" y="4237837"/>
            <a:ext cx="1746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Day 27</a:t>
            </a:r>
          </a:p>
        </p:txBody>
      </p:sp>
    </p:spTree>
    <p:extLst>
      <p:ext uri="{BB962C8B-B14F-4D97-AF65-F5344CB8AC3E}">
        <p14:creationId xmlns:p14="http://schemas.microsoft.com/office/powerpoint/2010/main" val="171042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03F9E-471D-B119-2AF4-08E3C42E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7BAD-4EBE-8FBB-4D23-49C75CB8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Before Model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70AD577-DB75-AEFF-7F9E-EB23DAF42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5C19D9-ADD0-1C74-8841-CA5BED4F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12827"/>
            <a:ext cx="10769600" cy="533726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E9714B-D3F2-B170-C40D-D4A7229E46AA}"/>
              </a:ext>
            </a:extLst>
          </p:cNvPr>
          <p:cNvCxnSpPr/>
          <p:nvPr/>
        </p:nvCxnSpPr>
        <p:spPr>
          <a:xfrm>
            <a:off x="10902462" y="3429000"/>
            <a:ext cx="328246" cy="8030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745326-AE29-1D43-891A-1DA9E1FE3236}"/>
              </a:ext>
            </a:extLst>
          </p:cNvPr>
          <p:cNvCxnSpPr>
            <a:cxnSpLocks/>
          </p:cNvCxnSpPr>
          <p:nvPr/>
        </p:nvCxnSpPr>
        <p:spPr>
          <a:xfrm>
            <a:off x="11031416" y="4267200"/>
            <a:ext cx="4943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DCD92A7-5761-0136-EE90-848358F45C2A}"/>
              </a:ext>
            </a:extLst>
          </p:cNvPr>
          <p:cNvSpPr txBox="1"/>
          <p:nvPr/>
        </p:nvSpPr>
        <p:spPr>
          <a:xfrm>
            <a:off x="8200292" y="2584748"/>
            <a:ext cx="3030416" cy="92333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Take 27</a:t>
            </a:r>
            <a:r>
              <a:rPr lang="en-US" baseline="30000" dirty="0"/>
              <a:t>th</a:t>
            </a:r>
            <a:r>
              <a:rPr lang="en-US" dirty="0"/>
              <a:t> day after DM </a:t>
            </a:r>
            <a:r>
              <a:rPr lang="en-US" dirty="0" err="1"/>
              <a:t>sendout</a:t>
            </a:r>
            <a:r>
              <a:rPr lang="en-US" dirty="0"/>
              <a:t> as proxy for minimal effect of DM </a:t>
            </a:r>
            <a:r>
              <a:rPr lang="en-US" dirty="0" err="1"/>
              <a:t>sendout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7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4FAF9-97EF-1C05-11C3-2C40F92C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6816-F832-EB79-9784-878773E8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With Model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AC8F1C-4625-E70B-F762-64D18F661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5EA52-FD2A-2972-3D98-54E434736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112827"/>
            <a:ext cx="10769599" cy="533726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E258B1-71E0-0F66-AB8B-72B85A1CE4FB}"/>
              </a:ext>
            </a:extLst>
          </p:cNvPr>
          <p:cNvCxnSpPr>
            <a:cxnSpLocks/>
          </p:cNvCxnSpPr>
          <p:nvPr/>
        </p:nvCxnSpPr>
        <p:spPr>
          <a:xfrm>
            <a:off x="1359877" y="4267200"/>
            <a:ext cx="101658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C441FB-D20B-2BA8-E512-B3AB25767E47}"/>
              </a:ext>
            </a:extLst>
          </p:cNvPr>
          <p:cNvSpPr txBox="1"/>
          <p:nvPr/>
        </p:nvSpPr>
        <p:spPr>
          <a:xfrm>
            <a:off x="8792308" y="3145387"/>
            <a:ext cx="2274277" cy="646331"/>
          </a:xfrm>
          <a:prstGeom prst="rect">
            <a:avLst/>
          </a:prstGeom>
          <a:solidFill>
            <a:schemeClr val="bg1"/>
          </a:solidFill>
          <a:ln w="38100">
            <a:solidFill>
              <a:srgbClr val="E85D2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Attributed as </a:t>
            </a:r>
          </a:p>
          <a:p>
            <a:pPr algn="ctr"/>
            <a:r>
              <a:rPr lang="en-US" dirty="0"/>
              <a:t>‘</a:t>
            </a:r>
            <a:r>
              <a:rPr lang="en-US" i="1" dirty="0" err="1"/>
              <a:t>Sendout</a:t>
            </a:r>
            <a:r>
              <a:rPr lang="en-US" i="1" dirty="0"/>
              <a:t> Only</a:t>
            </a:r>
            <a:r>
              <a:rPr lang="en-US" dirty="0"/>
              <a:t>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30F8A-96B7-0902-495D-363031A0A634}"/>
              </a:ext>
            </a:extLst>
          </p:cNvPr>
          <p:cNvSpPr txBox="1"/>
          <p:nvPr/>
        </p:nvSpPr>
        <p:spPr>
          <a:xfrm>
            <a:off x="8792307" y="4731985"/>
            <a:ext cx="2274277" cy="9233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Attributed to both</a:t>
            </a:r>
          </a:p>
          <a:p>
            <a:pPr algn="ctr"/>
            <a:r>
              <a:rPr lang="en-US" dirty="0"/>
              <a:t>‘</a:t>
            </a:r>
            <a:r>
              <a:rPr lang="en-US" i="1" dirty="0" err="1"/>
              <a:t>Sendout</a:t>
            </a:r>
            <a:r>
              <a:rPr lang="en-US" i="1" dirty="0"/>
              <a:t> Only</a:t>
            </a:r>
            <a:r>
              <a:rPr lang="en-US" dirty="0"/>
              <a:t>’ &amp;</a:t>
            </a:r>
          </a:p>
          <a:p>
            <a:pPr algn="ctr"/>
            <a:r>
              <a:rPr lang="en-US" dirty="0"/>
              <a:t>‘</a:t>
            </a:r>
            <a:r>
              <a:rPr lang="en-US" i="1" dirty="0"/>
              <a:t>Digital Interaction</a:t>
            </a:r>
            <a:r>
              <a:rPr lang="en-US" dirty="0"/>
              <a:t>’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3A705A-2571-D659-5605-2DF944823123}"/>
              </a:ext>
            </a:extLst>
          </p:cNvPr>
          <p:cNvCxnSpPr>
            <a:cxnSpLocks/>
          </p:cNvCxnSpPr>
          <p:nvPr/>
        </p:nvCxnSpPr>
        <p:spPr>
          <a:xfrm>
            <a:off x="11244385" y="4252119"/>
            <a:ext cx="0" cy="11261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625C9F3-0E6F-C3E8-1E9D-B853656F3CE1}"/>
              </a:ext>
            </a:extLst>
          </p:cNvPr>
          <p:cNvCxnSpPr>
            <a:cxnSpLocks/>
          </p:cNvCxnSpPr>
          <p:nvPr/>
        </p:nvCxnSpPr>
        <p:spPr>
          <a:xfrm flipV="1">
            <a:off x="11244385" y="3145387"/>
            <a:ext cx="0" cy="11218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2137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B70EE-5426-8864-CF3E-EC3157A3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BD4D-B0B4-2E51-3828-CE8B67B9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1325563"/>
          </a:xfrm>
        </p:spPr>
        <p:txBody>
          <a:bodyPr/>
          <a:lstStyle/>
          <a:p>
            <a:r>
              <a:rPr lang="en-US" b="1" dirty="0"/>
              <a:t>Applied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44823-0546-DB24-D40E-1B84DC1EC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124" y="1614266"/>
            <a:ext cx="11875478" cy="39584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8474DF-E7B2-9984-29FD-2A1E3D37A989}"/>
              </a:ext>
            </a:extLst>
          </p:cNvPr>
          <p:cNvSpPr txBox="1"/>
          <p:nvPr/>
        </p:nvSpPr>
        <p:spPr>
          <a:xfrm>
            <a:off x="7761148" y="58150"/>
            <a:ext cx="4290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Relocation Threshold      (sales per day)</a:t>
            </a:r>
          </a:p>
          <a:p>
            <a:r>
              <a:rPr lang="en-US" dirty="0"/>
              <a:t>September-October:</a:t>
            </a:r>
          </a:p>
          <a:p>
            <a:r>
              <a:rPr lang="en-US" dirty="0"/>
              <a:t>May-August:</a:t>
            </a:r>
          </a:p>
          <a:p>
            <a:r>
              <a:rPr lang="en-US" dirty="0"/>
              <a:t>Other: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1DE8B-A4DD-E1DD-BF45-B46BF830C173}"/>
              </a:ext>
            </a:extLst>
          </p:cNvPr>
          <p:cNvSpPr txBox="1"/>
          <p:nvPr/>
        </p:nvSpPr>
        <p:spPr>
          <a:xfrm>
            <a:off x="10342915" y="339502"/>
            <a:ext cx="20600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&gt;14</a:t>
            </a:r>
          </a:p>
          <a:p>
            <a:r>
              <a:rPr lang="en-US" b="1" dirty="0"/>
              <a:t>&gt;5</a:t>
            </a:r>
          </a:p>
          <a:p>
            <a:r>
              <a:rPr lang="en-US" b="1" dirty="0"/>
              <a:t>&gt;7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A50E4B-2843-1186-A009-100C9A707B09}"/>
              </a:ext>
            </a:extLst>
          </p:cNvPr>
          <p:cNvCxnSpPr>
            <a:cxnSpLocks/>
          </p:cNvCxnSpPr>
          <p:nvPr/>
        </p:nvCxnSpPr>
        <p:spPr>
          <a:xfrm>
            <a:off x="7854462" y="386394"/>
            <a:ext cx="40327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969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103E5-58EF-3B6B-CA9D-27E21E46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929C-4A90-64BA-5550-551EFB45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Model Reflection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E1717F-B78B-692E-CE99-94E5272C0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62" y="1277815"/>
            <a:ext cx="10515600" cy="56957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u="sng" dirty="0"/>
              <a:t>Achievements</a:t>
            </a:r>
            <a:r>
              <a:rPr lang="en-US" sz="2400" b="1" dirty="0"/>
              <a:t>:</a:t>
            </a:r>
          </a:p>
          <a:p>
            <a:r>
              <a:rPr lang="en-US" sz="2400" dirty="0"/>
              <a:t>More smartly attribute sales with multiple direct attributions</a:t>
            </a:r>
          </a:p>
          <a:p>
            <a:r>
              <a:rPr lang="en-US" sz="2400" dirty="0"/>
              <a:t>Addresses Seasonal patterns confounded with advertising swells</a:t>
            </a:r>
          </a:p>
          <a:p>
            <a:r>
              <a:rPr lang="en-US" sz="2400" dirty="0"/>
              <a:t>No bias as to the shape of the </a:t>
            </a:r>
            <a:r>
              <a:rPr lang="en-US" sz="2400" dirty="0" err="1"/>
              <a:t>sendout</a:t>
            </a:r>
            <a:r>
              <a:rPr lang="en-US" sz="2400" dirty="0"/>
              <a:t> curve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u="sng" dirty="0"/>
              <a:t>Remaining Limitations:</a:t>
            </a:r>
          </a:p>
          <a:p>
            <a:r>
              <a:rPr lang="en-US" sz="2400" dirty="0"/>
              <a:t>Time Dimension</a:t>
            </a:r>
          </a:p>
          <a:p>
            <a:pPr lvl="1"/>
            <a:r>
              <a:rPr lang="en-US" sz="2000" dirty="0"/>
              <a:t>Give more credit to DI’s over 7 days old</a:t>
            </a:r>
          </a:p>
          <a:p>
            <a:pPr lvl="1"/>
            <a:r>
              <a:rPr lang="en-US" sz="2000" dirty="0"/>
              <a:t>Give less credit to DI that’s not the last touch</a:t>
            </a:r>
          </a:p>
          <a:p>
            <a:r>
              <a:rPr lang="en-US" sz="2400" dirty="0"/>
              <a:t>Finer-grained Interactions</a:t>
            </a:r>
          </a:p>
          <a:p>
            <a:pPr lvl="1"/>
            <a:r>
              <a:rPr lang="en-US" sz="2000" dirty="0"/>
              <a:t>With Digital Interactions</a:t>
            </a:r>
          </a:p>
          <a:p>
            <a:pPr lvl="1"/>
            <a:r>
              <a:rPr lang="en-US" sz="2000" dirty="0"/>
              <a:t>With TV Spots Impressions</a:t>
            </a:r>
          </a:p>
          <a:p>
            <a:r>
              <a:rPr lang="en-US" sz="2400" dirty="0"/>
              <a:t>Improve Season Boundaries</a:t>
            </a:r>
          </a:p>
          <a:p>
            <a:r>
              <a:rPr lang="en-US" sz="2400" dirty="0"/>
              <a:t>12-16 Day Hump</a:t>
            </a:r>
          </a:p>
        </p:txBody>
      </p:sp>
    </p:spTree>
    <p:extLst>
      <p:ext uri="{BB962C8B-B14F-4D97-AF65-F5344CB8AC3E}">
        <p14:creationId xmlns:p14="http://schemas.microsoft.com/office/powerpoint/2010/main" val="7630710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28792-068C-1340-113F-2AF4B126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22D4-B76A-CFE2-BFCD-9A4CD24F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287827"/>
          </a:xfrm>
        </p:spPr>
        <p:txBody>
          <a:bodyPr anchor="t"/>
          <a:lstStyle/>
          <a:p>
            <a:r>
              <a:rPr lang="en-US" dirty="0"/>
              <a:t>Digital Interaction Mix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ABDE1-2EAC-AD40-0CA4-37B2ABB55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772" y="2254046"/>
            <a:ext cx="11649280" cy="349478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BA4FC4-2227-A89E-849D-590C7C44AB23}"/>
              </a:ext>
            </a:extLst>
          </p:cNvPr>
          <p:cNvSpPr txBox="1"/>
          <p:nvPr/>
        </p:nvSpPr>
        <p:spPr>
          <a:xfrm>
            <a:off x="838199" y="1142064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- Comparing Days 2-8 after a direct mail </a:t>
            </a:r>
            <a:r>
              <a:rPr lang="en-US" sz="2800" dirty="0" err="1"/>
              <a:t>sendout</a:t>
            </a:r>
            <a:r>
              <a:rPr lang="en-US" sz="2800" dirty="0"/>
              <a:t> to days 21-27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825171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1C71F-50C1-D24B-A5B9-F9031979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8A86-D0D2-AC32-B5B6-16EA4B70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488"/>
            <a:ext cx="10515600" cy="1325563"/>
          </a:xfrm>
        </p:spPr>
        <p:txBody>
          <a:bodyPr/>
          <a:lstStyle/>
          <a:p>
            <a:r>
              <a:rPr lang="en-US" dirty="0"/>
              <a:t>Model 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D9DDFF-1B2A-8DC4-FF10-19EEADBD5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92598"/>
              </p:ext>
            </p:extLst>
          </p:nvPr>
        </p:nvGraphicFramePr>
        <p:xfrm>
          <a:off x="1727200" y="2220221"/>
          <a:ext cx="8128000" cy="150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808753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57330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887074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58278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Channel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Baseline Sales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l-GR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Δ</a:t>
                      </a: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  Model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Final Estimate</a:t>
                      </a:r>
                    </a:p>
                  </a:txBody>
                  <a:tcPr marL="9525" marR="9525" marT="9525" marB="0" anchor="b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750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Digital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-909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4644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15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Sendout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371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TV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1102240"/>
                  </a:ext>
                </a:extLst>
              </a:tr>
            </a:tbl>
          </a:graphicData>
        </a:graphic>
      </p:graphicFrame>
      <p:sp>
        <p:nvSpPr>
          <p:cNvPr id="14" name="Oval 13">
            <a:extLst>
              <a:ext uri="{FF2B5EF4-FFF2-40B4-BE49-F238E27FC236}">
                <a16:creationId xmlns:a16="http://schemas.microsoft.com/office/drawing/2014/main" id="{987FA9B2-3D8A-3C62-FF01-908EAC1ECB36}"/>
              </a:ext>
            </a:extLst>
          </p:cNvPr>
          <p:cNvSpPr/>
          <p:nvPr/>
        </p:nvSpPr>
        <p:spPr>
          <a:xfrm>
            <a:off x="4689234" y="4794152"/>
            <a:ext cx="1582617" cy="150114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3607C1-CCD7-B463-6B08-346D1759DAE8}"/>
              </a:ext>
            </a:extLst>
          </p:cNvPr>
          <p:cNvSpPr/>
          <p:nvPr/>
        </p:nvSpPr>
        <p:spPr>
          <a:xfrm>
            <a:off x="5838096" y="4662995"/>
            <a:ext cx="1995764" cy="172886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ED3372-5317-3A1A-6D53-32348D5E8037}"/>
              </a:ext>
            </a:extLst>
          </p:cNvPr>
          <p:cNvSpPr/>
          <p:nvPr/>
        </p:nvSpPr>
        <p:spPr>
          <a:xfrm>
            <a:off x="4689234" y="4794152"/>
            <a:ext cx="1582617" cy="15011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80000B-817B-FE20-565A-77AE079CCC6F}"/>
              </a:ext>
            </a:extLst>
          </p:cNvPr>
          <p:cNvSpPr txBox="1"/>
          <p:nvPr/>
        </p:nvSpPr>
        <p:spPr>
          <a:xfrm>
            <a:off x="2321966" y="5204260"/>
            <a:ext cx="2179695" cy="64633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Overlap reduced from 3558 → 2649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E066E077-4312-1EBD-2973-25DAC709A172}"/>
              </a:ext>
            </a:extLst>
          </p:cNvPr>
          <p:cNvSpPr/>
          <p:nvPr/>
        </p:nvSpPr>
        <p:spPr>
          <a:xfrm>
            <a:off x="5967047" y="5210902"/>
            <a:ext cx="123091" cy="8505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8CD3A1B2-B885-AECA-EDCC-31F9DB7B71B5}"/>
              </a:ext>
            </a:extLst>
          </p:cNvPr>
          <p:cNvSpPr/>
          <p:nvPr/>
        </p:nvSpPr>
        <p:spPr>
          <a:xfrm>
            <a:off x="6096001" y="5328133"/>
            <a:ext cx="123091" cy="8505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559A81A6-8A21-0477-09BF-FC8904444260}"/>
              </a:ext>
            </a:extLst>
          </p:cNvPr>
          <p:cNvSpPr/>
          <p:nvPr/>
        </p:nvSpPr>
        <p:spPr>
          <a:xfrm>
            <a:off x="5884988" y="5375026"/>
            <a:ext cx="123091" cy="8505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2F9853B6-5AED-E341-18A7-622AF3A036BD}"/>
              </a:ext>
            </a:extLst>
          </p:cNvPr>
          <p:cNvSpPr/>
          <p:nvPr/>
        </p:nvSpPr>
        <p:spPr>
          <a:xfrm>
            <a:off x="6037388" y="5527426"/>
            <a:ext cx="123091" cy="8505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BAC4738B-3AC7-7903-9C7C-CE8AC71393EC}"/>
              </a:ext>
            </a:extLst>
          </p:cNvPr>
          <p:cNvSpPr/>
          <p:nvPr/>
        </p:nvSpPr>
        <p:spPr>
          <a:xfrm>
            <a:off x="5896713" y="5597765"/>
            <a:ext cx="123091" cy="8505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1E59BB3F-046A-03D8-4468-770A839AE0A9}"/>
              </a:ext>
            </a:extLst>
          </p:cNvPr>
          <p:cNvSpPr/>
          <p:nvPr/>
        </p:nvSpPr>
        <p:spPr>
          <a:xfrm>
            <a:off x="6049113" y="5750165"/>
            <a:ext cx="123091" cy="85055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35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D74D6-6D44-4661-D5BD-14EA36053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B580-D67B-6971-39AB-9B5150FD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287827"/>
          </a:xfrm>
        </p:spPr>
        <p:txBody>
          <a:bodyPr anchor="t"/>
          <a:lstStyle/>
          <a:p>
            <a:r>
              <a:rPr lang="en-US" dirty="0"/>
              <a:t>Digital Interaction Mix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868F6A-9AFF-834B-2B1C-61395B41B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56477"/>
              </p:ext>
            </p:extLst>
          </p:nvPr>
        </p:nvGraphicFramePr>
        <p:xfrm>
          <a:off x="2862180" y="1140775"/>
          <a:ext cx="650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578627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560955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3912291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74002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Channel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Interactions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% of 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Scaled Interactions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06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Paid Social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2712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Affiliate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113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Display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5203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Online Video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27146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AD7B8C-D4C5-81BC-6BC8-F796C1560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066842"/>
              </p:ext>
            </p:extLst>
          </p:nvPr>
        </p:nvGraphicFramePr>
        <p:xfrm>
          <a:off x="2862180" y="3498965"/>
          <a:ext cx="65024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75467535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7897051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310122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5946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Platform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Interactions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% of 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Scaled Interactions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28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302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Google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364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TikTok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0729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Cashbackly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94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Partner mailing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76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VergelijkLoten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6971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156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C0FA4-D002-6555-F2ED-CA00D8DA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8692-8047-1B7D-D148-3158A7B9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287827"/>
          </a:xfrm>
        </p:spPr>
        <p:txBody>
          <a:bodyPr anchor="t"/>
          <a:lstStyle/>
          <a:p>
            <a:r>
              <a:rPr lang="en-US" dirty="0"/>
              <a:t>Digital Interaction Mix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D65F47-9F42-D9DD-895A-B2B2CDFFC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960539"/>
              </p:ext>
            </p:extLst>
          </p:nvPr>
        </p:nvGraphicFramePr>
        <p:xfrm>
          <a:off x="2633581" y="1297183"/>
          <a:ext cx="65024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75467535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7897051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3101225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59468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Campaign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Interactions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% of 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Scaled Interactions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287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Prospecting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3027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Cashback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364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Facebook Prospecting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0729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Instagram Prospecting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94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Display Prospecting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76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YouTube Prospecting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697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Co-registration Leads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1775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Retargeting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313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Display Retargeting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3659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Comparison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0443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Deals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331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1352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43EA7-0441-2407-9D18-977623C2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0ACB-8CB5-9A1E-2834-003BA231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Overlapping Attributions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B560D0-B40B-F321-E4AF-105BAE9AE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418566"/>
              </p:ext>
            </p:extLst>
          </p:nvPr>
        </p:nvGraphicFramePr>
        <p:xfrm>
          <a:off x="6539528" y="1528495"/>
          <a:ext cx="4368802" cy="211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1">
                  <a:extLst>
                    <a:ext uri="{9D8B030D-6E8A-4147-A177-3AD203B41FA5}">
                      <a16:colId xmlns:a16="http://schemas.microsoft.com/office/drawing/2014/main" val="72863029"/>
                    </a:ext>
                  </a:extLst>
                </a:gridCol>
                <a:gridCol w="2184401">
                  <a:extLst>
                    <a:ext uri="{9D8B030D-6E8A-4147-A177-3AD203B41FA5}">
                      <a16:colId xmlns:a16="http://schemas.microsoft.com/office/drawing/2014/main" val="803694691"/>
                    </a:ext>
                  </a:extLst>
                </a:gridCol>
              </a:tblGrid>
              <a:tr h="5297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781680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Digital Interaction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07207803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DM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Sendout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6718019"/>
                  </a:ext>
                </a:extLst>
              </a:tr>
              <a:tr h="5297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TV Spot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01829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194CB3-5C26-BC66-A5CB-CF21409FB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59007"/>
              </p:ext>
            </p:extLst>
          </p:nvPr>
        </p:nvGraphicFramePr>
        <p:xfrm>
          <a:off x="6533858" y="4222891"/>
          <a:ext cx="4368802" cy="7924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184401">
                  <a:extLst>
                    <a:ext uri="{9D8B030D-6E8A-4147-A177-3AD203B41FA5}">
                      <a16:colId xmlns:a16="http://schemas.microsoft.com/office/drawing/2014/main" val="674796779"/>
                    </a:ext>
                  </a:extLst>
                </a:gridCol>
                <a:gridCol w="2184401">
                  <a:extLst>
                    <a:ext uri="{9D8B030D-6E8A-4147-A177-3AD203B41FA5}">
                      <a16:colId xmlns:a16="http://schemas.microsoft.com/office/drawing/2014/main" val="710463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Attributed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9934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66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Actual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9919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0232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E9850F8-7CE4-C5B3-46CF-9CFA1718F799}"/>
              </a:ext>
            </a:extLst>
          </p:cNvPr>
          <p:cNvSpPr txBox="1"/>
          <p:nvPr/>
        </p:nvSpPr>
        <p:spPr>
          <a:xfrm>
            <a:off x="375137" y="1360569"/>
            <a:ext cx="6201507" cy="42029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Overlapping Attributions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Direct attributions with multiple links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Evidence of interactions/multi-channel gains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TV Spot activity grew sales across all </a:t>
            </a:r>
            <a:r>
              <a:rPr lang="en-US" sz="2000" dirty="0"/>
              <a:t>attribution cases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Holdout group also saw increase from TV Spot activity</a:t>
            </a:r>
          </a:p>
          <a:p>
            <a:pPr lvl="0">
              <a:lnSpc>
                <a:spcPct val="150000"/>
              </a:lnSpc>
            </a:pPr>
            <a:endParaRPr lang="en-US" sz="2000" dirty="0"/>
          </a:p>
          <a:p>
            <a:pPr lvl="0">
              <a:lnSpc>
                <a:spcPct val="150000"/>
              </a:lnSpc>
            </a:pPr>
            <a:endParaRPr lang="en-US" sz="20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20440-58A0-0C03-0238-C547A66F7BD4}"/>
              </a:ext>
            </a:extLst>
          </p:cNvPr>
          <p:cNvSpPr/>
          <p:nvPr/>
        </p:nvSpPr>
        <p:spPr>
          <a:xfrm>
            <a:off x="6481098" y="5101952"/>
            <a:ext cx="4954763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ysClr val="windowText" lastClr="000000"/>
                </a:solidFill>
              </a:rPr>
              <a:t>1916 (-15% to TV) sales not attributed directly</a:t>
            </a:r>
          </a:p>
        </p:txBody>
      </p:sp>
    </p:spTree>
    <p:extLst>
      <p:ext uri="{BB962C8B-B14F-4D97-AF65-F5344CB8AC3E}">
        <p14:creationId xmlns:p14="http://schemas.microsoft.com/office/powerpoint/2010/main" val="3642898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89BF0-50F0-16A1-8587-AF690699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FC4D-210D-AB93-E63B-7C5E3F0C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78" y="1712"/>
            <a:ext cx="10515600" cy="1325563"/>
          </a:xfrm>
        </p:spPr>
        <p:txBody>
          <a:bodyPr/>
          <a:lstStyle/>
          <a:p>
            <a:r>
              <a:rPr lang="en-US" dirty="0"/>
              <a:t>Dividing Overlapping Attributions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8474B-68B0-255C-B12D-5268ADFB0151}"/>
              </a:ext>
            </a:extLst>
          </p:cNvPr>
          <p:cNvSpPr txBox="1"/>
          <p:nvPr/>
        </p:nvSpPr>
        <p:spPr>
          <a:xfrm>
            <a:off x="363414" y="1327275"/>
            <a:ext cx="6764217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Let the Data Speak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Isolate effects by finding changes in distributions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Hard part is finding/removing confounding variables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Methods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Visualizing, statistical tests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ML – Regression or Random Forest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91626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6F31D-87FD-A221-DB87-268CAE16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4E3F-F531-0F03-E60F-0D98ABFF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Deep Dive Model – DM </a:t>
            </a:r>
            <a:r>
              <a:rPr lang="en-US" dirty="0" err="1"/>
              <a:t>Sendout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6656EBA-99FE-ABFD-13F0-C5FAC383B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771" y="150910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Attribution of </a:t>
            </a:r>
            <a:r>
              <a:rPr lang="en-US" sz="2000" dirty="0" err="1"/>
              <a:t>sendouts</a:t>
            </a:r>
            <a:r>
              <a:rPr lang="en-US" sz="2000" dirty="0"/>
              <a:t> older than 27 days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Old DM </a:t>
            </a:r>
            <a:r>
              <a:rPr lang="en-US" sz="2000" dirty="0" err="1"/>
              <a:t>Sendouts</a:t>
            </a:r>
            <a:r>
              <a:rPr lang="en-US" sz="2000" dirty="0"/>
              <a:t> getting a lot of credit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Interactions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With Specific TV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With Specific DI’s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Variants A/B and their Interactions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32627-A398-2A1A-58C3-1BB283C66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8091" y="1683381"/>
            <a:ext cx="6004178" cy="4002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27395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68981-FA5C-E5E4-732E-2DE4F512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25D2-9CC6-C82F-1CBB-5B1B80CC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"/>
            <a:ext cx="10515600" cy="1325563"/>
          </a:xfrm>
        </p:spPr>
        <p:txBody>
          <a:bodyPr/>
          <a:lstStyle/>
          <a:p>
            <a:r>
              <a:rPr lang="en-US" dirty="0"/>
              <a:t>Deep Dive Model – TV Spot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E0C33A6-23EB-BFDC-D1BE-5C2F6634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7" y="177018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Seasonal/Month effects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Interactions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Effect of different programs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Effect of Impressions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Time of day </a:t>
            </a:r>
            <a:endParaRPr lang="en-US" sz="2000" dirty="0"/>
          </a:p>
          <a:p>
            <a:pPr lvl="1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C1357F-1A1F-A03D-C092-C2E2CD422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484" y="1770186"/>
            <a:ext cx="7386549" cy="376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24245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68FB5-ABBD-0F15-E3FE-342AC006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69AD-FEEF-BDF6-02EC-54C567D6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78" y="1712"/>
            <a:ext cx="10515600" cy="1325563"/>
          </a:xfrm>
        </p:spPr>
        <p:txBody>
          <a:bodyPr/>
          <a:lstStyle/>
          <a:p>
            <a:r>
              <a:rPr lang="en-US" dirty="0"/>
              <a:t>Dividing Overlapping Attributions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4EEFC6-C4B1-EC67-B4F5-53475C954217}"/>
              </a:ext>
            </a:extLst>
          </p:cNvPr>
          <p:cNvSpPr txBox="1"/>
          <p:nvPr/>
        </p:nvSpPr>
        <p:spPr>
          <a:xfrm>
            <a:off x="363414" y="1327275"/>
            <a:ext cx="6764217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dirty="0"/>
              <a:t>Let the Data Speak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Isolate effects by finding changes in distributions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Hard part is finding/removing confounding variables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Methods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Visualizing, statistical tests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ML – Regression or Random Forest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63B0B1-4FAD-59E8-9ADA-F679CF822B49}"/>
              </a:ext>
            </a:extLst>
          </p:cNvPr>
          <p:cNvSpPr txBox="1"/>
          <p:nvPr/>
        </p:nvSpPr>
        <p:spPr>
          <a:xfrm>
            <a:off x="7022119" y="1268660"/>
            <a:ext cx="4806467" cy="466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More Data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Internal/Public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Financial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Neighborhood stats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Customer history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Acquire more data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Holdout, A/B Tests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Surveys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Demographic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Tie cookie to address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11390-6D19-A06F-1A8B-4CCAA0F5A5F9}"/>
              </a:ext>
            </a:extLst>
          </p:cNvPr>
          <p:cNvSpPr txBox="1"/>
          <p:nvPr/>
        </p:nvSpPr>
        <p:spPr>
          <a:xfrm>
            <a:off x="363414" y="4322770"/>
            <a:ext cx="6096000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Informed Judgement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Learn from in-house strategy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Look at research or books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Look at competitors</a:t>
            </a:r>
          </a:p>
        </p:txBody>
      </p:sp>
    </p:spTree>
    <p:extLst>
      <p:ext uri="{BB962C8B-B14F-4D97-AF65-F5344CB8AC3E}">
        <p14:creationId xmlns:p14="http://schemas.microsoft.com/office/powerpoint/2010/main" val="338825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28B68-87C5-F6DC-144A-5AF3B761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DCB7-151B-CB24-2786-CE4475F38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287827"/>
          </a:xfrm>
        </p:spPr>
        <p:txBody>
          <a:bodyPr anchor="t"/>
          <a:lstStyle/>
          <a:p>
            <a:r>
              <a:rPr lang="en-US" dirty="0"/>
              <a:t>Recommendation to Marketer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35F668-3A29-F6DB-6F9F-A08B393BF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946" y="2304932"/>
            <a:ext cx="11301984" cy="372523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BCE462-9DF7-CF4D-3CE3-032DE40FF99D}"/>
              </a:ext>
            </a:extLst>
          </p:cNvPr>
          <p:cNvSpPr txBox="1"/>
          <p:nvPr/>
        </p:nvSpPr>
        <p:spPr>
          <a:xfrm>
            <a:off x="2655271" y="989665"/>
            <a:ext cx="77079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Because the TV boost appears in every month</a:t>
            </a:r>
          </a:p>
          <a:p>
            <a:r>
              <a:rPr lang="en-US" sz="2800" i="1" dirty="0"/>
              <a:t>     Try TV Spots in summer </a:t>
            </a:r>
            <a:endParaRPr lang="en-US" sz="1600" i="1" dirty="0"/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FC9499F4-DD98-FD5C-54C2-FB800BB15CCA}"/>
              </a:ext>
            </a:extLst>
          </p:cNvPr>
          <p:cNvSpPr/>
          <p:nvPr/>
        </p:nvSpPr>
        <p:spPr>
          <a:xfrm rot="5400000">
            <a:off x="2815240" y="1537430"/>
            <a:ext cx="219320" cy="222743"/>
          </a:xfrm>
          <a:prstGeom prst="bentUp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0C363A-2202-71D4-4929-85262D81C992}"/>
              </a:ext>
            </a:extLst>
          </p:cNvPr>
          <p:cNvSpPr/>
          <p:nvPr/>
        </p:nvSpPr>
        <p:spPr>
          <a:xfrm>
            <a:off x="2532180" y="989665"/>
            <a:ext cx="7373815" cy="954107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175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78127-1277-B61C-E294-A8320732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57090-6378-F7FD-F0F7-16D7DF34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8442" y="2547088"/>
            <a:ext cx="6696456" cy="1325563"/>
          </a:xfrm>
        </p:spPr>
        <p:txBody>
          <a:bodyPr>
            <a:normAutofit/>
          </a:bodyPr>
          <a:lstStyle/>
          <a:p>
            <a:r>
              <a:rPr lang="en-US" sz="7200" dirty="0"/>
              <a:t>Thank You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E47026-28F9-C02F-2DBA-258084FBFC1C}"/>
              </a:ext>
            </a:extLst>
          </p:cNvPr>
          <p:cNvSpPr txBox="1">
            <a:spLocks/>
          </p:cNvSpPr>
          <p:nvPr/>
        </p:nvSpPr>
        <p:spPr>
          <a:xfrm>
            <a:off x="298939" y="1034201"/>
            <a:ext cx="65707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9112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</TotalTime>
  <Words>1822</Words>
  <Application>Microsoft Office PowerPoint</Application>
  <PresentationFormat>Widescreen</PresentationFormat>
  <Paragraphs>519</Paragraphs>
  <Slides>55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2025 Postcode Loterij Attribution</vt:lpstr>
      <vt:lpstr> Part 1: Technical Perspective</vt:lpstr>
      <vt:lpstr>Data Preparation</vt:lpstr>
      <vt:lpstr>Data Preparation - Sales</vt:lpstr>
      <vt:lpstr>Data Preparation – Digital Interactions</vt:lpstr>
      <vt:lpstr>Data Preparation – TV Spots</vt:lpstr>
      <vt:lpstr>Data Preparation – DM Sendouts</vt:lpstr>
      <vt:lpstr>Baselines</vt:lpstr>
      <vt:lpstr>Direct Link Attribution</vt:lpstr>
      <vt:lpstr>PowerPoint Presentation</vt:lpstr>
      <vt:lpstr>Incremental Lift for DM Sendout</vt:lpstr>
      <vt:lpstr>TV Spot Attribution</vt:lpstr>
      <vt:lpstr>Daily Sales Colored by TV Spot</vt:lpstr>
      <vt:lpstr>Daily Sales Colored by TV Spot</vt:lpstr>
      <vt:lpstr>Effect of TV Spots on Attribution Group Proportion</vt:lpstr>
      <vt:lpstr>PowerPoint Presentation</vt:lpstr>
      <vt:lpstr>Daily Sales Colored by TV Spot</vt:lpstr>
      <vt:lpstr>Baseline Estimates</vt:lpstr>
      <vt:lpstr>Baseline Estimates</vt:lpstr>
      <vt:lpstr>Exploration  A/B Variants</vt:lpstr>
      <vt:lpstr>Difference in A &amp; B Variants</vt:lpstr>
      <vt:lpstr>Difference in A &amp; B Variants</vt:lpstr>
      <vt:lpstr>Difference in A &amp; B Variants</vt:lpstr>
      <vt:lpstr>Difference in A &amp; B Variants</vt:lpstr>
      <vt:lpstr>Exploration  Seasonality</vt:lpstr>
      <vt:lpstr>2025 Sales by Day</vt:lpstr>
      <vt:lpstr>2025 Sales by Day</vt:lpstr>
      <vt:lpstr>Digital Interactions Channels</vt:lpstr>
      <vt:lpstr>Insights from Data Exploration</vt:lpstr>
      <vt:lpstr>AI Usage</vt:lpstr>
      <vt:lpstr>Exploration  DM Sendout Response Time</vt:lpstr>
      <vt:lpstr>2025 Sales by Day</vt:lpstr>
      <vt:lpstr>PowerPoint Presentation</vt:lpstr>
      <vt:lpstr>PowerPoint Presentation</vt:lpstr>
      <vt:lpstr>Insights from Data Exploration</vt:lpstr>
      <vt:lpstr> Part 2: Stakeholder Perspective</vt:lpstr>
      <vt:lpstr>2025 Sales Baselines</vt:lpstr>
      <vt:lpstr>Deep Dive Model</vt:lpstr>
      <vt:lpstr>Model Design</vt:lpstr>
      <vt:lpstr>Model Design</vt:lpstr>
      <vt:lpstr>Before Model</vt:lpstr>
      <vt:lpstr>With Model</vt:lpstr>
      <vt:lpstr>Applied Model</vt:lpstr>
      <vt:lpstr>Model Reflection</vt:lpstr>
      <vt:lpstr>Digital Interaction Mix</vt:lpstr>
      <vt:lpstr>Model Results</vt:lpstr>
      <vt:lpstr>Digital Interaction Mix</vt:lpstr>
      <vt:lpstr>Digital Interaction Mix</vt:lpstr>
      <vt:lpstr>Overlapping Attributions</vt:lpstr>
      <vt:lpstr>Dividing Overlapping Attributions</vt:lpstr>
      <vt:lpstr>Deep Dive Model – DM Sendout</vt:lpstr>
      <vt:lpstr>Deep Dive Model – TV Spot</vt:lpstr>
      <vt:lpstr>Dividing Overlapping Attributions</vt:lpstr>
      <vt:lpstr>Recommendation to Marketer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Stewart Patterson</dc:creator>
  <cp:lastModifiedBy>Stewart Patterson</cp:lastModifiedBy>
  <cp:revision>65</cp:revision>
  <dcterms:created xsi:type="dcterms:W3CDTF">2026-09-19T08:26:22Z</dcterms:created>
  <dcterms:modified xsi:type="dcterms:W3CDTF">2026-10-31T16:58:51Z</dcterms:modified>
</cp:coreProperties>
</file>